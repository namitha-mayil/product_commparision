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7"/>
  </p:notesMasterIdLst>
  <p:sldIdLst>
    <p:sldId id="257" r:id="rId4"/>
    <p:sldId id="267" r:id="rId5"/>
    <p:sldId id="258" r:id="rId6"/>
    <p:sldId id="259" r:id="rId8"/>
    <p:sldId id="260" r:id="rId9"/>
    <p:sldId id="266" r:id="rId10"/>
    <p:sldId id="261" r:id="rId11"/>
    <p:sldId id="262" r:id="rId12"/>
    <p:sldId id="264" r:id="rId13"/>
    <p:sldId id="263"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10"/>
  </p:normalViewPr>
  <p:slideViewPr>
    <p:cSldViewPr snapToGrid="0" snapToObjects="1">
      <p:cViewPr varScale="1">
        <p:scale>
          <a:sx n="85" d="100"/>
          <a:sy n="85" d="100"/>
        </p:scale>
        <p:origin x="427"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1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619"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1048620"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62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2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623"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Slide Image Placeholder 1"/>
          <p:cNvSpPr>
            <a:spLocks noGrp="1" noRot="1" noChangeAspect="1"/>
          </p:cNvSpPr>
          <p:nvPr>
            <p:ph type="sldImg"/>
          </p:nvPr>
        </p:nvSpPr>
        <p:spPr/>
      </p:sp>
      <p:sp>
        <p:nvSpPr>
          <p:cNvPr id="1048593" name="Notes Placeholder 2"/>
          <p:cNvSpPr>
            <a:spLocks noGrp="1"/>
          </p:cNvSpPr>
          <p:nvPr>
            <p:ph type="body" idx="1"/>
          </p:nvPr>
        </p:nvSpPr>
        <p:spPr/>
        <p:txBody>
          <a:bodyPr/>
          <a:lstStyle/>
          <a:p>
            <a:endParaRPr lang="en-US" dirty="0"/>
          </a:p>
        </p:txBody>
      </p:sp>
      <p:sp>
        <p:nvSpPr>
          <p:cNvPr id="104859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1" Type="http://schemas.openxmlformats.org/officeDocument/2006/relationships/slideLayout" Target="../slideLayouts/slideLayout2.xml"/><Relationship Id="rId30" Type="http://schemas.openxmlformats.org/officeDocument/2006/relationships/image" Target="../media/image17.png"/><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image" Target="../media/image12.png"/><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2.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p:cNvPicPr>
            <a:picLocks noChangeAspect="1"/>
          </p:cNvPicPr>
          <p:nvPr/>
        </p:nvPicPr>
        <p:blipFill>
          <a:blip r:embed="rId1">
            <a:alphaModFix amt="20000"/>
            <a:extLst>
              <a:ext uri="{28A0092B-C50C-407E-A947-70E740481C1C}">
                <a14:useLocalDpi xmlns:a14="http://schemas.microsoft.com/office/drawing/2010/main" val="0"/>
              </a:ext>
            </a:extLst>
          </a:blip>
          <a:stretch>
            <a:fillRect/>
          </a:stretch>
        </p:blipFill>
        <p:spPr>
          <a:xfrm>
            <a:off x="412115" y="262890"/>
            <a:ext cx="10350500" cy="5431155"/>
          </a:xfrm>
          <a:prstGeom prst="rect">
            <a:avLst/>
          </a:prstGeom>
        </p:spPr>
      </p:pic>
      <p:sp>
        <p:nvSpPr>
          <p:cNvPr id="18" name="Rectangles 7"/>
          <p:cNvSpPr/>
          <p:nvPr/>
        </p:nvSpPr>
        <p:spPr>
          <a:xfrm rot="5400000">
            <a:off x="7880350" y="2522220"/>
            <a:ext cx="6828790" cy="1788795"/>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9" name="Rectangles 4"/>
          <p:cNvSpPr/>
          <p:nvPr/>
        </p:nvSpPr>
        <p:spPr>
          <a:xfrm rot="5400000">
            <a:off x="5908488" y="562078"/>
            <a:ext cx="383915"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0" name="Text 13"/>
          <p:cNvSpPr/>
          <p:nvPr/>
        </p:nvSpPr>
        <p:spPr>
          <a:xfrm>
            <a:off x="205740" y="6602095"/>
            <a:ext cx="8919845" cy="274320"/>
          </a:xfrm>
          <a:prstGeom prst="rect">
            <a:avLst/>
          </a:prstGeom>
          <a:noFill/>
        </p:spPr>
        <p:txBody>
          <a:bodyPr wrap="square" rtlCol="0" anchor="ctr"/>
          <a:lstStyle/>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sym typeface="+mn-ea"/>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p:txBody>
      </p:sp>
      <p:pic>
        <p:nvPicPr>
          <p:cNvPr id="21" name="Image 0" descr="logo_full.png"/>
          <p:cNvPicPr>
            <a:picLocks noChangeAspect="1"/>
          </p:cNvPicPr>
          <p:nvPr/>
        </p:nvPicPr>
        <p:blipFill>
          <a:blip r:embed="rId2"/>
          <a:stretch>
            <a:fillRect/>
          </a:stretch>
        </p:blipFill>
        <p:spPr>
          <a:xfrm>
            <a:off x="10517505" y="274320"/>
            <a:ext cx="1554480" cy="229514"/>
          </a:xfrm>
          <a:prstGeom prst="rect">
            <a:avLst/>
          </a:prstGeom>
        </p:spPr>
      </p:pic>
      <p:pic>
        <p:nvPicPr>
          <p:cNvPr id="22" name="Picture 21" descr="ChatGPT Image Sep 1, 2026, 08_44_41 PM"/>
          <p:cNvPicPr>
            <a:picLocks noChangeAspect="1"/>
          </p:cNvPicPr>
          <p:nvPr/>
        </p:nvPicPr>
        <p:blipFill>
          <a:blip r:embed="rId3"/>
          <a:srcRect l="3889" t="4000" r="4028" b="5657"/>
          <a:stretch>
            <a:fillRect/>
          </a:stretch>
        </p:blipFill>
        <p:spPr>
          <a:xfrm>
            <a:off x="224790" y="266700"/>
            <a:ext cx="1497965" cy="1470660"/>
          </a:xfrm>
          <a:prstGeom prst="ellipse">
            <a:avLst/>
          </a:prstGeom>
        </p:spPr>
      </p:pic>
      <p:sp>
        <p:nvSpPr>
          <p:cNvPr id="23" name="TextBox 2"/>
          <p:cNvSpPr txBox="1"/>
          <p:nvPr/>
        </p:nvSpPr>
        <p:spPr>
          <a:xfrm>
            <a:off x="1436534" y="333113"/>
            <a:ext cx="8409501" cy="1322070"/>
          </a:xfrm>
          <a:prstGeom prst="rect">
            <a:avLst/>
          </a:prstGeom>
          <a:noFill/>
        </p:spPr>
        <p:txBody>
          <a:bodyPr wrap="square">
            <a:spAutoFit/>
          </a:bodyPr>
          <a:lstStyle/>
          <a:p>
            <a:pPr algn="ctr"/>
            <a:r>
              <a:rPr lang="en-IN" altLang="en-US" sz="4000" b="1" dirty="0">
                <a:latin typeface="Calibri" panose="020F0502020204030204" charset="0"/>
                <a:ea typeface="Cambria" panose="02040503050406030204" pitchFamily="34" charset="-122"/>
                <a:cs typeface="Calibri" panose="020F0502020204030204" charset="0"/>
                <a:sym typeface="+mn-ea"/>
              </a:rPr>
              <a:t> </a:t>
            </a:r>
            <a:r>
              <a:rPr lang="en-US" altLang="en-US" sz="4000" b="1" dirty="0">
                <a:latin typeface="Calibri" panose="020F0502020204030204" charset="0"/>
                <a:ea typeface="Cambria" panose="02040503050406030204" pitchFamily="34" charset="-122"/>
                <a:cs typeface="Calibri" panose="020F0502020204030204" charset="0"/>
                <a:sym typeface="+mn-ea"/>
              </a:rPr>
              <a:t>Al-Powered IT Procurement &amp;</a:t>
            </a:r>
            <a:r>
              <a:rPr lang="en-IN" altLang="en-US" sz="4000" b="1" dirty="0">
                <a:latin typeface="Calibri" panose="020F0502020204030204" charset="0"/>
                <a:ea typeface="Cambria" panose="02040503050406030204" pitchFamily="34" charset="-122"/>
                <a:cs typeface="Calibri" panose="020F0502020204030204" charset="0"/>
                <a:sym typeface="+mn-ea"/>
              </a:rPr>
              <a:t> </a:t>
            </a:r>
            <a:endParaRPr lang="en-IN" altLang="en-US" sz="4000" b="1" dirty="0">
              <a:latin typeface="Calibri" panose="020F0502020204030204" charset="0"/>
              <a:ea typeface="Cambria" panose="02040503050406030204" pitchFamily="34" charset="-122"/>
              <a:cs typeface="Calibri" panose="020F0502020204030204" charset="0"/>
              <a:sym typeface="+mn-ea"/>
            </a:endParaRPr>
          </a:p>
          <a:p>
            <a:pPr algn="ctr"/>
            <a:r>
              <a:rPr lang="en-US" altLang="en-US" sz="4000" b="1" dirty="0">
                <a:latin typeface="Calibri" panose="020F0502020204030204" charset="0"/>
                <a:ea typeface="Cambria" panose="02040503050406030204" pitchFamily="34" charset="-122"/>
                <a:cs typeface="Calibri" panose="020F0502020204030204" charset="0"/>
                <a:sym typeface="+mn-ea"/>
              </a:rPr>
              <a:t>Competitive Product Intelligence </a:t>
            </a:r>
            <a:endParaRPr lang="en-IN" sz="4000" b="1" dirty="0">
              <a:latin typeface="Calibri" panose="020F0502020204030204" charset="0"/>
              <a:cs typeface="Calibri" panose="020F0502020204030204" charset="0"/>
            </a:endParaRPr>
          </a:p>
        </p:txBody>
      </p:sp>
      <p:sp>
        <p:nvSpPr>
          <p:cNvPr id="24" name="TextBox 3"/>
          <p:cNvSpPr txBox="1"/>
          <p:nvPr/>
        </p:nvSpPr>
        <p:spPr>
          <a:xfrm>
            <a:off x="7098030" y="3625215"/>
            <a:ext cx="2820035" cy="629920"/>
          </a:xfrm>
          <a:prstGeom prst="rect">
            <a:avLst/>
          </a:prstGeom>
          <a:noFill/>
        </p:spPr>
        <p:txBody>
          <a:bodyPr wrap="square" rtlCol="0">
            <a:spAutoFit/>
          </a:bodyPr>
          <a:lstStyle/>
          <a:p>
            <a:r>
              <a:rPr lang="en-US" sz="3500" b="1" kern="1000" dirty="0">
                <a:latin typeface="Calibri" panose="020F0502020204030204" charset="0"/>
                <a:cs typeface="Calibri" panose="020F0502020204030204" charset="0"/>
              </a:rPr>
              <a:t>Team</a:t>
            </a:r>
            <a:r>
              <a:rPr lang="en-IN" altLang="en-US" sz="3500" b="1" kern="1000" dirty="0">
                <a:latin typeface="Calibri" panose="020F0502020204030204" charset="0"/>
                <a:cs typeface="Calibri" panose="020F0502020204030204" charset="0"/>
              </a:rPr>
              <a:t> </a:t>
            </a:r>
            <a:r>
              <a:rPr lang="en-US" sz="3500" b="1" kern="1000" dirty="0">
                <a:latin typeface="Calibri" panose="020F0502020204030204" charset="0"/>
                <a:cs typeface="Calibri" panose="020F0502020204030204" charset="0"/>
              </a:rPr>
              <a:t>S</a:t>
            </a:r>
            <a:endParaRPr lang="en-IN" sz="3500" b="1" kern="1000" dirty="0">
              <a:latin typeface="Calibri" panose="020F0502020204030204" charset="0"/>
              <a:cs typeface="Calibri" panose="020F0502020204030204" charset="0"/>
            </a:endParaRPr>
          </a:p>
        </p:txBody>
      </p:sp>
      <p:sp>
        <p:nvSpPr>
          <p:cNvPr id="32" name="TextBox 7"/>
          <p:cNvSpPr txBox="1"/>
          <p:nvPr/>
        </p:nvSpPr>
        <p:spPr>
          <a:xfrm>
            <a:off x="3854393" y="4135621"/>
            <a:ext cx="2549737" cy="477054"/>
          </a:xfrm>
          <a:prstGeom prst="rect">
            <a:avLst/>
          </a:prstGeom>
          <a:noFill/>
        </p:spPr>
        <p:txBody>
          <a:bodyPr wrap="none" rtlCol="0">
            <a:spAutoFit/>
          </a:bodyPr>
          <a:lstStyle/>
          <a:p>
            <a:r>
              <a:rPr lang="en-US" sz="2500" dirty="0">
                <a:latin typeface="Arial Rounded MT Bold" panose="020F0704030504030204" pitchFamily="34" charset="0"/>
              </a:rPr>
              <a:t>Team Members</a:t>
            </a:r>
            <a:endParaRPr lang="en-IN" sz="2500" dirty="0">
              <a:latin typeface="Arial Rounded MT Bold" panose="020F0704030504030204" pitchFamily="34" charset="0"/>
            </a:endParaRPr>
          </a:p>
        </p:txBody>
      </p:sp>
      <p:cxnSp>
        <p:nvCxnSpPr>
          <p:cNvPr id="33" name="Straight Connector 32"/>
          <p:cNvCxnSpPr/>
          <p:nvPr/>
        </p:nvCxnSpPr>
        <p:spPr>
          <a:xfrm>
            <a:off x="187325" y="4394545"/>
            <a:ext cx="3632835" cy="12065"/>
          </a:xfrm>
          <a:prstGeom prst="line">
            <a:avLst/>
          </a:prstGeom>
        </p:spPr>
        <p:style>
          <a:lnRef idx="3">
            <a:schemeClr val="dk1"/>
          </a:lnRef>
          <a:fillRef idx="0">
            <a:schemeClr val="dk1"/>
          </a:fillRef>
          <a:effectRef idx="2">
            <a:schemeClr val="dk1"/>
          </a:effectRef>
          <a:fontRef idx="minor">
            <a:schemeClr val="tx1"/>
          </a:fontRef>
        </p:style>
      </p:cxnSp>
      <p:cxnSp>
        <p:nvCxnSpPr>
          <p:cNvPr id="34" name="Straight Connector 33"/>
          <p:cNvCxnSpPr/>
          <p:nvPr/>
        </p:nvCxnSpPr>
        <p:spPr>
          <a:xfrm>
            <a:off x="6381289" y="4394520"/>
            <a:ext cx="3901440" cy="0"/>
          </a:xfrm>
          <a:prstGeom prst="line">
            <a:avLst/>
          </a:prstGeom>
        </p:spPr>
        <p:style>
          <a:lnRef idx="3">
            <a:schemeClr val="dk1"/>
          </a:lnRef>
          <a:fillRef idx="0">
            <a:schemeClr val="dk1"/>
          </a:fillRef>
          <a:effectRef idx="2">
            <a:schemeClr val="dk1"/>
          </a:effectRef>
          <a:fontRef idx="minor">
            <a:schemeClr val="tx1"/>
          </a:fontRef>
        </p:style>
      </p:cxnSp>
      <p:graphicFrame>
        <p:nvGraphicFramePr>
          <p:cNvPr id="35" name="Table 34"/>
          <p:cNvGraphicFramePr>
            <a:graphicFrameLocks noGrp="1"/>
          </p:cNvGraphicFramePr>
          <p:nvPr/>
        </p:nvGraphicFramePr>
        <p:xfrm>
          <a:off x="298125" y="4801354"/>
          <a:ext cx="10017459" cy="1435736"/>
        </p:xfrm>
        <a:graphic>
          <a:graphicData uri="http://schemas.openxmlformats.org/drawingml/2006/table">
            <a:tbl>
              <a:tblPr firstRow="1" bandRow="1">
                <a:tableStyleId>{5940675A-B579-460E-94D1-54222C63F5DA}</a:tableStyleId>
              </a:tblPr>
              <a:tblGrid>
                <a:gridCol w="3339153"/>
                <a:gridCol w="3339153"/>
                <a:gridCol w="3339153"/>
              </a:tblGrid>
              <a:tr h="717868">
                <a:tc>
                  <a:txBody>
                    <a:bodyPr/>
                    <a:lstStyle/>
                    <a:p>
                      <a:pPr>
                        <a:lnSpc>
                          <a:spcPct val="150000"/>
                        </a:lnSpc>
                      </a:pPr>
                      <a:r>
                        <a:rPr lang="en-IN" altLang="en-US" sz="2200" b="0" dirty="0">
                          <a:latin typeface="Arial Rounded MT Bold" panose="020F0704030504030204" pitchFamily="34" charset="0"/>
                        </a:rPr>
                        <a:t>          Santhosh kanna T</a:t>
                      </a:r>
                      <a:endParaRPr lang="en-US" sz="2200" b="0" dirty="0">
                        <a:latin typeface="Arial Rounded MT Bold" panose="020F0704030504030204" pitchFamily="34" charset="0"/>
                        <a:cs typeface="Times New Roman" panose="02020603050405020304" charset="0"/>
                      </a:endParaRPr>
                    </a:p>
                  </a:txBody>
                  <a:tcPr/>
                </a:tc>
                <a:tc>
                  <a:txBody>
                    <a:bodyPr/>
                    <a:lstStyle/>
                    <a:p>
                      <a:pPr>
                        <a:lnSpc>
                          <a:spcPct val="150000"/>
                        </a:lnSpc>
                      </a:pPr>
                      <a:r>
                        <a:rPr lang="en-IN" altLang="en-US" sz="2200" b="0" dirty="0">
                          <a:latin typeface="Arial Rounded MT Bold" panose="020F0704030504030204" pitchFamily="34" charset="0"/>
                        </a:rPr>
                        <a:t>           Shogith G K </a:t>
                      </a:r>
                      <a:endParaRPr lang="en-US" sz="2200" b="0" dirty="0">
                        <a:latin typeface="Arial Rounded MT Bold" panose="020F0704030504030204" pitchFamily="34" charset="0"/>
                        <a:cs typeface="Times New Roman" panose="02020603050405020304" charset="0"/>
                      </a:endParaRPr>
                    </a:p>
                  </a:txBody>
                  <a:tcPr/>
                </a:tc>
                <a:tc>
                  <a:txBody>
                    <a:bodyPr/>
                    <a:lstStyle/>
                    <a:p>
                      <a:pPr>
                        <a:lnSpc>
                          <a:spcPct val="150000"/>
                        </a:lnSpc>
                      </a:pPr>
                      <a:r>
                        <a:rPr lang="en-IN" altLang="en-US" sz="2200" b="0" dirty="0">
                          <a:latin typeface="Arial Rounded MT Bold" panose="020F0704030504030204" pitchFamily="34" charset="0"/>
                        </a:rPr>
                        <a:t>          Sanjay Kumar U</a:t>
                      </a:r>
                      <a:endParaRPr lang="en-US" sz="2200" b="0" dirty="0">
                        <a:latin typeface="Arial Rounded MT Bold" panose="020F0704030504030204" pitchFamily="34" charset="0"/>
                        <a:cs typeface="Times New Roman" panose="02020603050405020304" charset="0"/>
                      </a:endParaRPr>
                    </a:p>
                  </a:txBody>
                  <a:tcPr/>
                </a:tc>
              </a:tr>
              <a:tr h="717868">
                <a:tc>
                  <a:txBody>
                    <a:bodyPr/>
                    <a:lstStyle/>
                    <a:p>
                      <a:pPr>
                        <a:lnSpc>
                          <a:spcPct val="150000"/>
                        </a:lnSpc>
                      </a:pPr>
                      <a:r>
                        <a:rPr lang="en-IN" altLang="en-US" sz="2200" dirty="0">
                          <a:latin typeface="Arial Rounded MT Bold" panose="020F0704030504030204" pitchFamily="34" charset="0"/>
                        </a:rPr>
                        <a:t>          Revanth K S</a:t>
                      </a:r>
                      <a:endParaRPr lang="en-US" sz="2200" dirty="0">
                        <a:latin typeface="Arial Rounded MT Bold" panose="020F0704030504030204" pitchFamily="34" charset="0"/>
                        <a:cs typeface="Times New Roman" panose="02020603050405020304" charset="0"/>
                      </a:endParaRPr>
                    </a:p>
                  </a:txBody>
                  <a:tcPr/>
                </a:tc>
                <a:tc>
                  <a:txBody>
                    <a:bodyPr/>
                    <a:lstStyle/>
                    <a:p>
                      <a:pPr>
                        <a:lnSpc>
                          <a:spcPct val="150000"/>
                        </a:lnSpc>
                      </a:pPr>
                      <a:r>
                        <a:rPr lang="en-IN" altLang="en-US" sz="2200" dirty="0">
                          <a:latin typeface="Arial Rounded MT Bold" panose="020F0704030504030204" pitchFamily="34" charset="0"/>
                        </a:rPr>
                        <a:t>           Kaviya S</a:t>
                      </a:r>
                      <a:endParaRPr lang="en-US" sz="2200" dirty="0">
                        <a:latin typeface="Arial Rounded MT Bold" panose="020F0704030504030204" pitchFamily="34" charset="0"/>
                        <a:cs typeface="Times New Roman" panose="02020603050405020304" charset="0"/>
                      </a:endParaRPr>
                    </a:p>
                  </a:txBody>
                  <a:tcPr/>
                </a:tc>
                <a:tc>
                  <a:txBody>
                    <a:bodyPr/>
                    <a:lstStyle/>
                    <a:p>
                      <a:pPr>
                        <a:lnSpc>
                          <a:spcPct val="150000"/>
                        </a:lnSpc>
                      </a:pPr>
                      <a:r>
                        <a:rPr lang="en-IN" altLang="en-US" sz="2200" dirty="0">
                          <a:latin typeface="Arial Rounded MT Bold" panose="020F0704030504030204" pitchFamily="34" charset="0"/>
                        </a:rPr>
                        <a:t>          Namitha M</a:t>
                      </a:r>
                      <a:endParaRPr lang="en-US" sz="2200" dirty="0">
                        <a:latin typeface="Arial Rounded MT Bold" panose="020F0704030504030204" pitchFamily="34" charset="0"/>
                        <a:cs typeface="Times New Roman" panose="02020603050405020304" charset="0"/>
                      </a:endParaRPr>
                    </a:p>
                  </a:txBody>
                  <a:tcPr/>
                </a:tc>
              </a:tr>
            </a:tbl>
          </a:graphicData>
        </a:graphic>
      </p:graphicFrame>
      <p:pic>
        <p:nvPicPr>
          <p:cNvPr id="36" name="Picture 35"/>
          <p:cNvPicPr>
            <a:picLocks noChangeAspect="1"/>
          </p:cNvPicPr>
          <p:nvPr/>
        </p:nvPicPr>
        <p:blipFill>
          <a:blip r:embed="rId4"/>
          <a:stretch>
            <a:fillRect/>
          </a:stretch>
        </p:blipFill>
        <p:spPr>
          <a:xfrm>
            <a:off x="404769" y="4906130"/>
            <a:ext cx="644290" cy="558800"/>
          </a:xfrm>
          <a:prstGeom prst="rect">
            <a:avLst/>
          </a:prstGeom>
        </p:spPr>
      </p:pic>
      <p:pic>
        <p:nvPicPr>
          <p:cNvPr id="37" name="Picture 36"/>
          <p:cNvPicPr>
            <a:picLocks noChangeAspect="1"/>
          </p:cNvPicPr>
          <p:nvPr/>
        </p:nvPicPr>
        <p:blipFill>
          <a:blip r:embed="rId5"/>
          <a:stretch>
            <a:fillRect/>
          </a:stretch>
        </p:blipFill>
        <p:spPr>
          <a:xfrm>
            <a:off x="3722559" y="4871214"/>
            <a:ext cx="686509" cy="593716"/>
          </a:xfrm>
          <a:prstGeom prst="rect">
            <a:avLst/>
          </a:prstGeom>
        </p:spPr>
      </p:pic>
      <p:pic>
        <p:nvPicPr>
          <p:cNvPr id="38" name="Picture 37"/>
          <p:cNvPicPr>
            <a:picLocks noChangeAspect="1"/>
          </p:cNvPicPr>
          <p:nvPr/>
        </p:nvPicPr>
        <p:blipFill>
          <a:blip r:embed="rId6"/>
          <a:stretch>
            <a:fillRect/>
          </a:stretch>
        </p:blipFill>
        <p:spPr>
          <a:xfrm>
            <a:off x="6988841" y="4868492"/>
            <a:ext cx="644290" cy="628632"/>
          </a:xfrm>
          <a:prstGeom prst="rect">
            <a:avLst/>
          </a:prstGeom>
        </p:spPr>
      </p:pic>
      <p:pic>
        <p:nvPicPr>
          <p:cNvPr id="39" name="Picture 38"/>
          <p:cNvPicPr>
            <a:picLocks noChangeAspect="1"/>
          </p:cNvPicPr>
          <p:nvPr/>
        </p:nvPicPr>
        <p:blipFill>
          <a:blip r:embed="rId7"/>
          <a:stretch>
            <a:fillRect/>
          </a:stretch>
        </p:blipFill>
        <p:spPr>
          <a:xfrm>
            <a:off x="376351" y="5580714"/>
            <a:ext cx="671384" cy="590599"/>
          </a:xfrm>
          <a:prstGeom prst="rect">
            <a:avLst/>
          </a:prstGeom>
        </p:spPr>
      </p:pic>
      <p:pic>
        <p:nvPicPr>
          <p:cNvPr id="40" name="Picture 39"/>
          <p:cNvPicPr>
            <a:picLocks noChangeAspect="1"/>
          </p:cNvPicPr>
          <p:nvPr/>
        </p:nvPicPr>
        <p:blipFill>
          <a:blip r:embed="rId8"/>
          <a:stretch>
            <a:fillRect/>
          </a:stretch>
        </p:blipFill>
        <p:spPr>
          <a:xfrm>
            <a:off x="7031190" y="5580714"/>
            <a:ext cx="605597" cy="590601"/>
          </a:xfrm>
          <a:prstGeom prst="rect">
            <a:avLst/>
          </a:prstGeom>
        </p:spPr>
      </p:pic>
      <p:pic>
        <p:nvPicPr>
          <p:cNvPr id="41" name="Picture 40"/>
          <p:cNvPicPr>
            <a:picLocks noChangeAspect="1"/>
          </p:cNvPicPr>
          <p:nvPr/>
        </p:nvPicPr>
        <p:blipFill>
          <a:blip r:embed="rId9"/>
          <a:stretch>
            <a:fillRect/>
          </a:stretch>
        </p:blipFill>
        <p:spPr>
          <a:xfrm>
            <a:off x="3697188" y="5570028"/>
            <a:ext cx="684549" cy="590600"/>
          </a:xfrm>
          <a:prstGeom prst="rect">
            <a:avLst/>
          </a:prstGeom>
        </p:spPr>
      </p:pic>
      <p:sp>
        <p:nvSpPr>
          <p:cNvPr id="42" name="AutoShape 2"/>
          <p:cNvSpPr>
            <a:spLocks noChangeAspect="1" noChangeArrowheads="1"/>
          </p:cNvSpPr>
          <p:nvPr/>
        </p:nvSpPr>
        <p:spPr bwMode="auto">
          <a:xfrm>
            <a:off x="6052185" y="34217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43" name="AutoShape 4"/>
          <p:cNvSpPr>
            <a:spLocks noChangeAspect="1" noChangeArrowheads="1"/>
          </p:cNvSpPr>
          <p:nvPr/>
        </p:nvSpPr>
        <p:spPr bwMode="auto">
          <a:xfrm>
            <a:off x="5966460" y="362521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44" name="TextBox 16"/>
          <p:cNvSpPr txBox="1"/>
          <p:nvPr/>
        </p:nvSpPr>
        <p:spPr>
          <a:xfrm>
            <a:off x="171528" y="3615409"/>
            <a:ext cx="6099858" cy="583565"/>
          </a:xfrm>
          <a:prstGeom prst="rect">
            <a:avLst/>
          </a:prstGeom>
          <a:noFill/>
        </p:spPr>
        <p:txBody>
          <a:bodyPr wrap="square">
            <a:spAutoFit/>
          </a:bodyPr>
          <a:lstStyle/>
          <a:p>
            <a:r>
              <a:rPr lang="en-IN" sz="3200" dirty="0">
                <a:cs typeface="Times New Roman" panose="02020603050405020304" charset="0"/>
              </a:rPr>
              <a:t>Mentor : Hundare Saurabh</a:t>
            </a:r>
            <a:endParaRPr lang="en-IN" sz="3200" dirty="0">
              <a:cs typeface="Times New Roman" panose="0202060305040502030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9992360" y="-635"/>
            <a:ext cx="2197100" cy="6797675"/>
          </a:xfrm>
          <a:custGeom>
            <a:avLst/>
            <a:gdLst>
              <a:gd name="connsiteX0" fmla="*/ 0 w 3878"/>
              <a:gd name="connsiteY0" fmla="*/ 0 h 10705"/>
              <a:gd name="connsiteX1" fmla="*/ 3878 w 3878"/>
              <a:gd name="connsiteY1" fmla="*/ 0 h 10705"/>
              <a:gd name="connsiteX2" fmla="*/ 3878 w 3878"/>
              <a:gd name="connsiteY2" fmla="*/ 10705 h 10705"/>
              <a:gd name="connsiteX3" fmla="*/ 2113 w 3878"/>
              <a:gd name="connsiteY3" fmla="*/ 10129 h 10705"/>
              <a:gd name="connsiteX4" fmla="*/ 0 w 3878"/>
              <a:gd name="connsiteY4" fmla="*/ 0 h 10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 h="10705">
                <a:moveTo>
                  <a:pt x="0" y="0"/>
                </a:moveTo>
                <a:lnTo>
                  <a:pt x="3878" y="0"/>
                </a:lnTo>
                <a:lnTo>
                  <a:pt x="3878" y="10705"/>
                </a:lnTo>
                <a:lnTo>
                  <a:pt x="2113" y="10129"/>
                </a:lnTo>
                <a:lnTo>
                  <a:pt x="0" y="0"/>
                </a:lnTo>
                <a:close/>
              </a:path>
            </a:pathLst>
          </a:cu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3" name="Picture 2" descr="ChatGPT Image Sep 1, 2026, 08_04_45 PM"/>
          <p:cNvPicPr>
            <a:picLocks noChangeAspect="1"/>
          </p:cNvPicPr>
          <p:nvPr/>
        </p:nvPicPr>
        <p:blipFill>
          <a:blip r:embed="rId1">
            <a:alphaModFix amt="60000"/>
          </a:blip>
          <a:stretch>
            <a:fillRect/>
          </a:stretch>
        </p:blipFill>
        <p:spPr>
          <a:xfrm rot="420000">
            <a:off x="5610860" y="1405255"/>
            <a:ext cx="6054725" cy="4036695"/>
          </a:xfrm>
          <a:prstGeom prst="rect">
            <a:avLst/>
          </a:prstGeom>
        </p:spPr>
      </p:pic>
      <p:sp>
        <p:nvSpPr>
          <p:cNvPr id="6" name="Rectangles 7"/>
          <p:cNvSpPr/>
          <p:nvPr/>
        </p:nvSpPr>
        <p:spPr>
          <a:xfrm rot="10800000">
            <a:off x="0" y="2540"/>
            <a:ext cx="10193020" cy="368300"/>
          </a:xfrm>
          <a:prstGeom prst="rect">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77" name="Rectangles 4"/>
          <p:cNvSpPr/>
          <p:nvPr/>
        </p:nvSpPr>
        <p:spPr>
          <a:xfrm rot="5400000">
            <a:off x="5905942" y="571108"/>
            <a:ext cx="389005"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78" name="Text Box 1"/>
          <p:cNvSpPr txBox="1"/>
          <p:nvPr/>
        </p:nvSpPr>
        <p:spPr>
          <a:xfrm>
            <a:off x="139700" y="520700"/>
            <a:ext cx="10606405" cy="521970"/>
          </a:xfrm>
          <a:prstGeom prst="rect">
            <a:avLst/>
          </a:prstGeom>
          <a:noFill/>
        </p:spPr>
        <p:txBody>
          <a:bodyPr wrap="square" rtlCol="0" anchor="t">
            <a:spAutoFit/>
          </a:bodyPr>
          <a:lstStyle/>
          <a:p>
            <a:pPr marL="0" indent="0">
              <a:buNone/>
            </a:pPr>
            <a:r>
              <a:rPr lang="en-US" altLang="en-US" sz="2800" b="1" dirty="0">
                <a:solidFill>
                  <a:schemeClr val="tx1"/>
                </a:solidFill>
                <a:latin typeface="Times New Roman" panose="02020603050405020304" charset="0"/>
                <a:ea typeface="Cambria" panose="02040503050406030204" pitchFamily="34" charset="-122"/>
                <a:cs typeface="Times New Roman" panose="02020603050405020304" charset="0"/>
                <a:sym typeface="+mn-ea"/>
              </a:rPr>
              <a:t>Al-Powered IT Procurement &amp;</a:t>
            </a:r>
            <a:r>
              <a:rPr lang="en-IN" altLang="en-US" sz="2800" b="1" dirty="0">
                <a:solidFill>
                  <a:schemeClr val="tx1"/>
                </a:solidFill>
                <a:latin typeface="Times New Roman" panose="02020603050405020304" charset="0"/>
                <a:ea typeface="Cambria" panose="02040503050406030204" pitchFamily="34" charset="-122"/>
                <a:cs typeface="Times New Roman" panose="02020603050405020304" charset="0"/>
                <a:sym typeface="+mn-ea"/>
              </a:rPr>
              <a:t> </a:t>
            </a:r>
            <a:r>
              <a:rPr lang="en-US" altLang="en-US" sz="2800" b="1" dirty="0">
                <a:solidFill>
                  <a:schemeClr val="tx1"/>
                </a:solidFill>
                <a:latin typeface="Times New Roman" panose="02020603050405020304" charset="0"/>
                <a:ea typeface="Cambria" panose="02040503050406030204" pitchFamily="34" charset="-122"/>
                <a:cs typeface="Times New Roman" panose="02020603050405020304" charset="0"/>
                <a:sym typeface="+mn-ea"/>
              </a:rPr>
              <a:t>Competitive Product Intelligence</a:t>
            </a:r>
            <a:endParaRPr lang="en-US" altLang="en-US" sz="2800" b="1" dirty="0">
              <a:solidFill>
                <a:schemeClr val="tx1"/>
              </a:solidFill>
              <a:latin typeface="Times New Roman" panose="02020603050405020304" charset="0"/>
              <a:ea typeface="Cambria" panose="02040503050406030204" pitchFamily="34" charset="-122"/>
              <a:cs typeface="Times New Roman" panose="02020603050405020304" charset="0"/>
              <a:sym typeface="+mn-ea"/>
            </a:endParaRPr>
          </a:p>
        </p:txBody>
      </p:sp>
      <p:sp>
        <p:nvSpPr>
          <p:cNvPr id="1048580" name="Text 13"/>
          <p:cNvSpPr/>
          <p:nvPr/>
        </p:nvSpPr>
        <p:spPr>
          <a:xfrm>
            <a:off x="194310" y="6522720"/>
            <a:ext cx="10230485" cy="274320"/>
          </a:xfrm>
          <a:prstGeom prst="rect">
            <a:avLst/>
          </a:prstGeom>
          <a:noFill/>
        </p:spPr>
        <p:txBody>
          <a:bodyPr wrap="square" rtlCol="0" anchor="ctr"/>
          <a:lstStyle/>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p:txBody>
      </p:sp>
      <p:sp>
        <p:nvSpPr>
          <p:cNvPr id="1048581" name="Text Box 9"/>
          <p:cNvSpPr txBox="1"/>
          <p:nvPr/>
        </p:nvSpPr>
        <p:spPr>
          <a:xfrm>
            <a:off x="139701" y="1393825"/>
            <a:ext cx="6457870" cy="4159250"/>
          </a:xfrm>
          <a:prstGeom prst="rect">
            <a:avLst/>
          </a:prstGeom>
        </p:spPr>
        <p:txBody>
          <a:bodyPr wrap="square">
            <a:noAutofit/>
          </a:bodyPr>
          <a:lstStyle/>
          <a:p>
            <a:r>
              <a:rPr lang="en-US" altLang="en-US" dirty="0">
                <a:latin typeface="Times New Roman" panose="02020603050405020304" charset="0"/>
                <a:cs typeface="Times New Roman" panose="02020603050405020304" charset="0"/>
              </a:rPr>
              <a:t>In today's competitive global market, businesses must compare their products across different countries to stay competitive. However, product information is scattered across multiple sources, making analysis time-consuming, complex, and error-prone. As markets grow, organizations need a smarter and more efficient product analysis solution.</a:t>
            </a:r>
            <a:br>
              <a:rPr lang="en-US" altLang="en-US" dirty="0">
                <a:latin typeface="Times New Roman" panose="02020603050405020304" charset="0"/>
                <a:cs typeface="Times New Roman" panose="02020603050405020304" charset="0"/>
              </a:rPr>
            </a:b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To address this challenge, we developed the Product Analysis Agent, an AI-powered multi-agent system that automates product research and comparison. It collects and compares product specifications, pricing, features, and availability across multiple markets, generating structured reports that reduce manual effort and support faster, data-driven decisions.</a:t>
            </a:r>
            <a:endParaRPr lang="en-US" altLang="en-US" dirty="0">
              <a:latin typeface="Times New Roman" panose="02020603050405020304" charset="0"/>
              <a:cs typeface="Times New Roman" panose="02020603050405020304" charset="0"/>
            </a:endParaRPr>
          </a:p>
        </p:txBody>
      </p:sp>
      <p:pic>
        <p:nvPicPr>
          <p:cNvPr id="5" name="Image 0" descr="logo_full.png"/>
          <p:cNvPicPr>
            <a:picLocks noChangeAspect="1"/>
          </p:cNvPicPr>
          <p:nvPr/>
        </p:nvPicPr>
        <p:blipFill>
          <a:blip r:embed="rId2"/>
          <a:stretch>
            <a:fillRect/>
          </a:stretch>
        </p:blipFill>
        <p:spPr>
          <a:xfrm>
            <a:off x="10400665" y="141605"/>
            <a:ext cx="1650365" cy="22923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Box 13"/>
          <p:cNvSpPr txBox="1"/>
          <p:nvPr/>
        </p:nvSpPr>
        <p:spPr>
          <a:xfrm>
            <a:off x="2528570" y="2421890"/>
            <a:ext cx="8473440" cy="89408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noAutofit/>
          </a:bodyPr>
          <a:lstStyle/>
          <a:p>
            <a:r>
              <a:rPr lang="en-US" altLang="en-US" sz="1600" dirty="0">
                <a:solidFill>
                  <a:schemeClr val="tx1"/>
                </a:solidFill>
                <a:latin typeface="Times New Roman" panose="02020603050405020304" charset="0"/>
                <a:cs typeface="Times New Roman" panose="02020603050405020304" charset="0"/>
              </a:rPr>
              <a:t>Product information is scattered across various sources, including internal PDF documents, company databases, and external websites, making it difficult to efficiently access, organize, and maintain accurate product information in a single location.</a:t>
            </a:r>
            <a:endParaRPr lang="en-US" altLang="en-US" sz="1600" dirty="0">
              <a:solidFill>
                <a:schemeClr val="tx1"/>
              </a:solidFill>
              <a:latin typeface="Times New Roman" panose="02020603050405020304" charset="0"/>
              <a:cs typeface="Times New Roman" panose="02020603050405020304" charset="0"/>
            </a:endParaRPr>
          </a:p>
        </p:txBody>
      </p:sp>
      <p:sp>
        <p:nvSpPr>
          <p:cNvPr id="23" name="TextBox 22"/>
          <p:cNvSpPr txBox="1"/>
          <p:nvPr/>
        </p:nvSpPr>
        <p:spPr>
          <a:xfrm>
            <a:off x="1259840" y="3702050"/>
            <a:ext cx="9098280" cy="89979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noAutofit/>
          </a:bodyPr>
          <a:lstStyle/>
          <a:p>
            <a:r>
              <a:rPr lang="en-US" altLang="en-US" sz="1600" dirty="0">
                <a:solidFill>
                  <a:schemeClr val="tx1"/>
                </a:solidFill>
                <a:latin typeface="Times New Roman" panose="02020603050405020304" charset="0"/>
                <a:cs typeface="Times New Roman" panose="02020603050405020304" charset="0"/>
              </a:rPr>
              <a:t>Differences in product specifications, pricing, availability, and market-specific details across different countries make competitor analysis complex, inconsistent, and challenging for businesses operating in global markets.</a:t>
            </a:r>
            <a:endParaRPr lang="en-US" altLang="en-US" sz="1600" dirty="0">
              <a:solidFill>
                <a:schemeClr val="tx1"/>
              </a:solidFill>
              <a:latin typeface="Times New Roman" panose="02020603050405020304" charset="0"/>
              <a:cs typeface="Times New Roman" panose="02020603050405020304" charset="0"/>
            </a:endParaRPr>
          </a:p>
        </p:txBody>
      </p:sp>
      <p:sp>
        <p:nvSpPr>
          <p:cNvPr id="25" name="TextBox 24"/>
          <p:cNvSpPr txBox="1"/>
          <p:nvPr/>
        </p:nvSpPr>
        <p:spPr>
          <a:xfrm>
            <a:off x="267970" y="4984750"/>
            <a:ext cx="9568180" cy="96964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noAutofit/>
          </a:bodyPr>
          <a:lstStyle/>
          <a:p>
            <a:r>
              <a:rPr lang="en-US" altLang="en-US" sz="1600" dirty="0">
                <a:solidFill>
                  <a:schemeClr val="tx1"/>
                </a:solidFill>
                <a:latin typeface="Times New Roman" panose="02020603050405020304" charset="0"/>
                <a:cs typeface="Times New Roman" panose="02020603050405020304" charset="0"/>
              </a:rPr>
              <a:t>Manual product comparison across multiple countries requires significant time and effort, involves repetitive data collection tasks, and is highly prone to human errors, reducing the overall efficiency and accuracy of product analysis.</a:t>
            </a:r>
            <a:endParaRPr lang="en-US" altLang="en-US" sz="1600" dirty="0">
              <a:solidFill>
                <a:schemeClr val="tx1"/>
              </a:solidFill>
              <a:latin typeface="Times New Roman" panose="02020603050405020304" charset="0"/>
              <a:cs typeface="Times New Roman" panose="02020603050405020304" charset="0"/>
            </a:endParaRPr>
          </a:p>
        </p:txBody>
      </p:sp>
      <p:sp>
        <p:nvSpPr>
          <p:cNvPr id="27" name="Half Frame 26"/>
          <p:cNvSpPr/>
          <p:nvPr/>
        </p:nvSpPr>
        <p:spPr>
          <a:xfrm rot="10800000">
            <a:off x="6891445" y="4676101"/>
            <a:ext cx="3232817" cy="1475299"/>
          </a:xfrm>
          <a:prstGeom prst="halfFrame">
            <a:avLst>
              <a:gd name="adj1" fmla="val 14742"/>
              <a:gd name="adj2" fmla="val 21782"/>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solidFill>
                <a:schemeClr val="tx1"/>
              </a:solidFill>
            </a:endParaRPr>
          </a:p>
        </p:txBody>
      </p:sp>
      <p:sp>
        <p:nvSpPr>
          <p:cNvPr id="29" name="Half Frame 28"/>
          <p:cNvSpPr/>
          <p:nvPr/>
        </p:nvSpPr>
        <p:spPr>
          <a:xfrm rot="10800000">
            <a:off x="7608519" y="3368384"/>
            <a:ext cx="3091992" cy="1475299"/>
          </a:xfrm>
          <a:prstGeom prst="halfFrame">
            <a:avLst>
              <a:gd name="adj1" fmla="val 14742"/>
              <a:gd name="adj2" fmla="val 21782"/>
            </a:avLst>
          </a:prstGeom>
          <a:solidFill>
            <a:srgbClr val="FF3300"/>
          </a:solidFill>
          <a:ln>
            <a:solidFill>
              <a:srgbClr val="FF33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solidFill>
                <a:schemeClr val="tx1"/>
              </a:solidFill>
            </a:endParaRPr>
          </a:p>
        </p:txBody>
      </p:sp>
      <p:sp>
        <p:nvSpPr>
          <p:cNvPr id="30" name="Half Frame 29"/>
          <p:cNvSpPr/>
          <p:nvPr/>
        </p:nvSpPr>
        <p:spPr>
          <a:xfrm rot="10800000">
            <a:off x="8507854" y="2109604"/>
            <a:ext cx="2787687" cy="1475298"/>
          </a:xfrm>
          <a:prstGeom prst="halfFrame">
            <a:avLst>
              <a:gd name="adj1" fmla="val 17298"/>
              <a:gd name="adj2" fmla="val 20471"/>
            </a:avLst>
          </a:prstGeom>
          <a:solidFill>
            <a:schemeClr val="bg1">
              <a:lumMod val="50000"/>
            </a:schemeClr>
          </a:solidFill>
          <a:ln>
            <a:solidFill>
              <a:schemeClr val="bg1">
                <a:lumMod val="5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solidFill>
                <a:schemeClr val="tx1"/>
              </a:solidFill>
            </a:endParaRPr>
          </a:p>
        </p:txBody>
      </p:sp>
      <p:sp>
        <p:nvSpPr>
          <p:cNvPr id="31" name="Half Frame 30"/>
          <p:cNvSpPr/>
          <p:nvPr/>
        </p:nvSpPr>
        <p:spPr>
          <a:xfrm rot="10800000">
            <a:off x="9434737" y="842487"/>
            <a:ext cx="2449707" cy="1475299"/>
          </a:xfrm>
          <a:prstGeom prst="halfFrame">
            <a:avLst>
              <a:gd name="adj1" fmla="val 15381"/>
              <a:gd name="adj2" fmla="val 19226"/>
            </a:avLst>
          </a:prstGeom>
          <a:solidFill>
            <a:srgbClr val="FF3300"/>
          </a:solidFill>
          <a:ln>
            <a:solidFill>
              <a:srgbClr val="FF330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dirty="0">
              <a:solidFill>
                <a:schemeClr val="tx1"/>
              </a:solidFill>
            </a:endParaRPr>
          </a:p>
        </p:txBody>
      </p:sp>
      <p:pic>
        <p:nvPicPr>
          <p:cNvPr id="2" name="Picture 6" descr="Man climbing stairs - Free people ico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570" y="1736212"/>
            <a:ext cx="2481285" cy="2160859"/>
          </a:xfrm>
          <a:prstGeom prst="rect">
            <a:avLst/>
          </a:prstGeom>
          <a:noFill/>
          <a:extLst>
            <a:ext uri="{909E8E84-426E-40DD-AFC4-6F175D3DCCD1}">
              <a14:hiddenFill xmlns:a14="http://schemas.microsoft.com/office/drawing/2010/main">
                <a:solidFill>
                  <a:srgbClr val="FFFFFF"/>
                </a:solidFill>
              </a14:hiddenFill>
            </a:ext>
          </a:extLst>
        </p:spPr>
      </p:pic>
      <p:sp>
        <p:nvSpPr>
          <p:cNvPr id="3" name="Text 0"/>
          <p:cNvSpPr/>
          <p:nvPr/>
        </p:nvSpPr>
        <p:spPr>
          <a:xfrm>
            <a:off x="205740" y="410210"/>
            <a:ext cx="4604385" cy="640080"/>
          </a:xfrm>
          <a:prstGeom prst="rect">
            <a:avLst/>
          </a:prstGeom>
          <a:noFill/>
        </p:spPr>
        <p:txBody>
          <a:bodyPr wrap="square" rtlCol="0" anchor="ctr"/>
          <a:lstStyle/>
          <a:p>
            <a:pPr marL="0" indent="0">
              <a:buNone/>
            </a:pPr>
            <a:r>
              <a:rPr lang="en-US" sz="3200" b="1" dirty="0">
                <a:solidFill>
                  <a:srgbClr val="2B2B2B"/>
                </a:solidFill>
                <a:latin typeface="Times New Roman" panose="02020603050405020304" charset="0"/>
                <a:ea typeface="Cambria" panose="02040503050406030204" pitchFamily="34" charset="-122"/>
                <a:cs typeface="Times New Roman" panose="02020603050405020304" charset="0"/>
              </a:rPr>
              <a:t>Problem Statement</a:t>
            </a:r>
            <a:endParaRPr lang="en-US" sz="3200" dirty="0">
              <a:latin typeface="Times New Roman" panose="02020603050405020304" charset="0"/>
              <a:cs typeface="Times New Roman" panose="02020603050405020304" charset="0"/>
            </a:endParaRPr>
          </a:p>
        </p:txBody>
      </p:sp>
      <p:sp>
        <p:nvSpPr>
          <p:cNvPr id="12" name="Text Box 24"/>
          <p:cNvSpPr txBox="1"/>
          <p:nvPr/>
        </p:nvSpPr>
        <p:spPr>
          <a:xfrm>
            <a:off x="3609252" y="1205179"/>
            <a:ext cx="7998533" cy="829945"/>
          </a:xfrm>
          <a:prstGeom prst="rect">
            <a:avLst/>
          </a:prstGeom>
          <a:noFill/>
        </p:spPr>
        <p:txBody>
          <a:bodyPr wrap="square" rtlCol="0" anchor="t">
            <a:spAutoFit/>
          </a:bodyPr>
          <a:lstStyle/>
          <a:p>
            <a:r>
              <a:rPr lang="en-US" altLang="en-US" sz="1600" dirty="0">
                <a:sym typeface="+mn-ea"/>
              </a:rPr>
              <a:t>There is no centralized intelligent platform that can automatically collect, compare, and generate structured product analysis reports by integrating information from multiple internal and external data sources, resulting in inefficient and fragmented decision-making.</a:t>
            </a:r>
            <a:endParaRPr lang="en-US" altLang="en-US" sz="1600" dirty="0">
              <a:sym typeface="+mn-ea"/>
            </a:endParaRPr>
          </a:p>
        </p:txBody>
      </p:sp>
      <p:sp>
        <p:nvSpPr>
          <p:cNvPr id="13" name="Rectangle 12"/>
          <p:cNvSpPr/>
          <p:nvPr/>
        </p:nvSpPr>
        <p:spPr>
          <a:xfrm>
            <a:off x="3529965" y="1089660"/>
            <a:ext cx="8077835" cy="10198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77" name="Rectangles 4"/>
          <p:cNvSpPr/>
          <p:nvPr/>
        </p:nvSpPr>
        <p:spPr>
          <a:xfrm rot="5400000">
            <a:off x="5908488" y="562078"/>
            <a:ext cx="383915"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80" name="Text 13"/>
          <p:cNvSpPr/>
          <p:nvPr/>
        </p:nvSpPr>
        <p:spPr>
          <a:xfrm>
            <a:off x="95885" y="6584315"/>
            <a:ext cx="8007350" cy="274320"/>
          </a:xfrm>
          <a:prstGeom prst="rect">
            <a:avLst/>
          </a:prstGeom>
          <a:noFill/>
        </p:spPr>
        <p:txBody>
          <a:bodyPr wrap="square" rtlCol="0" anchor="ctr"/>
          <a:lstStyle/>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sym typeface="+mn-ea"/>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p:txBody>
      </p:sp>
      <p:sp>
        <p:nvSpPr>
          <p:cNvPr id="6" name="Rectangles 7"/>
          <p:cNvSpPr/>
          <p:nvPr/>
        </p:nvSpPr>
        <p:spPr>
          <a:xfrm rot="10800000">
            <a:off x="0" y="2540"/>
            <a:ext cx="12192000" cy="36830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4" name="Image 0" descr="logo_full.png"/>
          <p:cNvPicPr>
            <a:picLocks noChangeAspect="1"/>
          </p:cNvPicPr>
          <p:nvPr/>
        </p:nvPicPr>
        <p:blipFill>
          <a:blip r:embed="rId2"/>
          <a:stretch>
            <a:fillRect/>
          </a:stretch>
        </p:blipFill>
        <p:spPr>
          <a:xfrm>
            <a:off x="10402265" y="74930"/>
            <a:ext cx="1554480" cy="229514"/>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ext Box 1"/>
          <p:cNvSpPr txBox="1"/>
          <p:nvPr/>
        </p:nvSpPr>
        <p:spPr>
          <a:xfrm>
            <a:off x="349250" y="371475"/>
            <a:ext cx="5483225" cy="583565"/>
          </a:xfrm>
          <a:prstGeom prst="rect">
            <a:avLst/>
          </a:prstGeom>
          <a:noFill/>
        </p:spPr>
        <p:txBody>
          <a:bodyPr wrap="square" rtlCol="0" anchor="t">
            <a:spAutoFit/>
          </a:bodyPr>
          <a:lstStyle/>
          <a:p>
            <a:pPr marL="0" indent="0">
              <a:buNone/>
            </a:pPr>
            <a:r>
              <a:rPr 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Proposed Solutions</a:t>
            </a:r>
            <a:endParaRPr 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endParaRPr>
          </a:p>
        </p:txBody>
      </p:sp>
      <p:sp>
        <p:nvSpPr>
          <p:cNvPr id="1048597" name="Oval 3"/>
          <p:cNvSpPr/>
          <p:nvPr/>
        </p:nvSpPr>
        <p:spPr>
          <a:xfrm>
            <a:off x="4866005" y="706755"/>
            <a:ext cx="1831975" cy="1697355"/>
          </a:xfrm>
          <a:prstGeom prst="ellipse">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98" name="Oval 4"/>
          <p:cNvSpPr/>
          <p:nvPr/>
        </p:nvSpPr>
        <p:spPr>
          <a:xfrm>
            <a:off x="4893945" y="4536440"/>
            <a:ext cx="1831975" cy="1697355"/>
          </a:xfrm>
          <a:prstGeom prst="ellipse">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99" name="Oval 5"/>
          <p:cNvSpPr/>
          <p:nvPr/>
        </p:nvSpPr>
        <p:spPr>
          <a:xfrm>
            <a:off x="4893945" y="2580640"/>
            <a:ext cx="1831975" cy="1697355"/>
          </a:xfrm>
          <a:prstGeom prst="ellipse">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2" name="Picture 1" descr="ChatGPT Image Jul 18, 2026, 11_05_39 AM"/>
          <p:cNvPicPr>
            <a:picLocks noChangeAspect="1"/>
          </p:cNvPicPr>
          <p:nvPr/>
        </p:nvPicPr>
        <p:blipFill>
          <a:blip r:embed="rId1"/>
          <a:srcRect l="67271" t="21219" r="9234" b="32771"/>
          <a:stretch>
            <a:fillRect/>
          </a:stretch>
        </p:blipFill>
        <p:spPr>
          <a:xfrm>
            <a:off x="4829175" y="4467860"/>
            <a:ext cx="1991995" cy="1950720"/>
          </a:xfrm>
          <a:prstGeom prst="ellipse">
            <a:avLst/>
          </a:prstGeom>
        </p:spPr>
      </p:pic>
      <p:pic>
        <p:nvPicPr>
          <p:cNvPr id="3" name="Picture 2" descr="ChatGPT Image Jul 18, 2026, 11_05_39 AM"/>
          <p:cNvPicPr>
            <a:picLocks noChangeAspect="1"/>
          </p:cNvPicPr>
          <p:nvPr/>
        </p:nvPicPr>
        <p:blipFill>
          <a:blip r:embed="rId1"/>
          <a:srcRect l="8229" t="21536" r="67687" b="33359"/>
          <a:stretch>
            <a:fillRect/>
          </a:stretch>
        </p:blipFill>
        <p:spPr>
          <a:xfrm>
            <a:off x="4765675" y="465455"/>
            <a:ext cx="2055495" cy="1925320"/>
          </a:xfrm>
          <a:prstGeom prst="ellipse">
            <a:avLst/>
          </a:prstGeom>
        </p:spPr>
      </p:pic>
      <p:pic>
        <p:nvPicPr>
          <p:cNvPr id="4" name="Picture 3" descr="ChatGPT Image Jul 18, 2026, 11_05_39 AM"/>
          <p:cNvPicPr>
            <a:picLocks noChangeAspect="1"/>
          </p:cNvPicPr>
          <p:nvPr/>
        </p:nvPicPr>
        <p:blipFill>
          <a:blip r:embed="rId1"/>
          <a:srcRect l="38901" t="22000" r="38828" b="34083"/>
          <a:stretch>
            <a:fillRect/>
          </a:stretch>
        </p:blipFill>
        <p:spPr>
          <a:xfrm>
            <a:off x="4866005" y="2465070"/>
            <a:ext cx="1955165" cy="1927860"/>
          </a:xfrm>
          <a:prstGeom prst="ellipse">
            <a:avLst/>
          </a:prstGeom>
        </p:spPr>
      </p:pic>
      <p:sp>
        <p:nvSpPr>
          <p:cNvPr id="6" name="Text Box 5"/>
          <p:cNvSpPr txBox="1"/>
          <p:nvPr/>
        </p:nvSpPr>
        <p:spPr>
          <a:xfrm>
            <a:off x="349250" y="4846955"/>
            <a:ext cx="4316730" cy="1076325"/>
          </a:xfrm>
          <a:prstGeom prst="rect">
            <a:avLst/>
          </a:prstGeom>
        </p:spPr>
        <p:txBody>
          <a:bodyPr wrap="square">
            <a:spAutoFit/>
          </a:bodyPr>
          <a:lstStyle/>
          <a:p>
            <a:r>
              <a:rPr lang="en-US" altLang="zh-CN" sz="1600" b="1">
                <a:latin typeface="Times New Roman" panose="02020603050405020304" charset="0"/>
                <a:cs typeface="Times New Roman" panose="02020603050405020304" charset="0"/>
              </a:rPr>
              <a:t>Automated Insight &amp; Report Generation</a:t>
            </a:r>
            <a:endParaRPr lang="en-US" altLang="zh-CN" sz="1600" b="1">
              <a:latin typeface="Times New Roman" panose="02020603050405020304" charset="0"/>
              <a:cs typeface="Times New Roman" panose="02020603050405020304" charset="0"/>
            </a:endParaRPr>
          </a:p>
          <a:p>
            <a:pPr indent="0">
              <a:buFont typeface="Arial" panose="020B0604020202020204"/>
              <a:buNone/>
            </a:pPr>
            <a:r>
              <a:rPr lang="en-US" altLang="zh-CN" sz="1600">
                <a:latin typeface="Times New Roman" panose="02020603050405020304" charset="0"/>
                <a:cs typeface="Times New Roman" panose="02020603050405020304" charset="0"/>
              </a:rPr>
              <a:t>Generate structured comparison reports with match scores, pricing analysis, availability insights, recommendations, and visual dashboards.</a:t>
            </a:r>
            <a:endParaRPr lang="en-US" altLang="zh-CN" sz="1600">
              <a:latin typeface="Times New Roman" panose="02020603050405020304" charset="0"/>
              <a:cs typeface="Times New Roman" panose="02020603050405020304" charset="0"/>
            </a:endParaRPr>
          </a:p>
        </p:txBody>
      </p:sp>
      <p:sp>
        <p:nvSpPr>
          <p:cNvPr id="7" name="Text Box 6"/>
          <p:cNvSpPr txBox="1"/>
          <p:nvPr/>
        </p:nvSpPr>
        <p:spPr>
          <a:xfrm>
            <a:off x="414655" y="988060"/>
            <a:ext cx="4241800" cy="1076325"/>
          </a:xfrm>
          <a:prstGeom prst="rect">
            <a:avLst/>
          </a:prstGeom>
        </p:spPr>
        <p:txBody>
          <a:bodyPr wrap="square">
            <a:spAutoFit/>
          </a:bodyPr>
          <a:lstStyle/>
          <a:p>
            <a:r>
              <a:rPr lang="en-US" altLang="zh-CN" sz="1600" b="1">
                <a:latin typeface="Times New Roman" panose="02020603050405020304" charset="0"/>
                <a:cs typeface="Times New Roman" panose="02020603050405020304" charset="0"/>
              </a:rPr>
              <a:t>Centralized Product Knowledge Repository</a:t>
            </a:r>
            <a:endParaRPr lang="en-US" altLang="zh-CN" sz="1600" b="1">
              <a:latin typeface="Times New Roman" panose="02020603050405020304" charset="0"/>
              <a:cs typeface="Times New Roman" panose="02020603050405020304" charset="0"/>
            </a:endParaRPr>
          </a:p>
          <a:p>
            <a:pPr indent="0">
              <a:buFont typeface="Arial" panose="020B0604020202020204"/>
              <a:buNone/>
            </a:pPr>
            <a:r>
              <a:rPr lang="en-US" altLang="zh-CN" sz="1600">
                <a:latin typeface="Times New Roman" panose="02020603050405020304" charset="0"/>
                <a:cs typeface="Times New Roman" panose="02020603050405020304" charset="0"/>
              </a:rPr>
              <a:t>Store all internal product documents, PDFs, specifications, pricing, and availability data in a centralized Azure AI Search repository.</a:t>
            </a:r>
            <a:endParaRPr lang="en-US" altLang="zh-CN" sz="1600">
              <a:latin typeface="Times New Roman" panose="02020603050405020304" charset="0"/>
              <a:cs typeface="Times New Roman" panose="02020603050405020304" charset="0"/>
            </a:endParaRPr>
          </a:p>
        </p:txBody>
      </p:sp>
      <p:sp>
        <p:nvSpPr>
          <p:cNvPr id="9" name="Down Arrow 8"/>
          <p:cNvSpPr/>
          <p:nvPr/>
        </p:nvSpPr>
        <p:spPr>
          <a:xfrm>
            <a:off x="2120265" y="2168525"/>
            <a:ext cx="379095" cy="747395"/>
          </a:xfrm>
          <a:prstGeom prst="downArrow">
            <a:avLst/>
          </a:prstGeom>
          <a:solidFill>
            <a:srgbClr val="FF000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Down Arrow 9"/>
          <p:cNvSpPr/>
          <p:nvPr/>
        </p:nvSpPr>
        <p:spPr>
          <a:xfrm>
            <a:off x="2120265" y="4057650"/>
            <a:ext cx="379095" cy="747395"/>
          </a:xfrm>
          <a:prstGeom prst="downArrow">
            <a:avLst/>
          </a:prstGeom>
          <a:solidFill>
            <a:schemeClr val="bg2">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1" name="Down Arrow 10"/>
          <p:cNvSpPr/>
          <p:nvPr/>
        </p:nvSpPr>
        <p:spPr>
          <a:xfrm>
            <a:off x="9187815" y="2283460"/>
            <a:ext cx="379095" cy="747395"/>
          </a:xfrm>
          <a:prstGeom prst="downArrow">
            <a:avLst/>
          </a:prstGeom>
          <a:solidFill>
            <a:srgbClr val="FF000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Text Box 11"/>
          <p:cNvSpPr txBox="1"/>
          <p:nvPr/>
        </p:nvSpPr>
        <p:spPr>
          <a:xfrm>
            <a:off x="7099300" y="896620"/>
            <a:ext cx="4968240" cy="1568450"/>
          </a:xfrm>
          <a:prstGeom prst="rect">
            <a:avLst/>
          </a:prstGeom>
        </p:spPr>
        <p:txBody>
          <a:bodyPr wrap="square">
            <a:spAutoFit/>
          </a:bodyPr>
          <a:lstStyle/>
          <a:p>
            <a:r>
              <a:rPr lang="en-US" altLang="zh-CN" sz="1600" b="1">
                <a:latin typeface="Times New Roman" panose="02020603050405020304" charset="0"/>
                <a:cs typeface="Times New Roman" panose="02020603050405020304" charset="0"/>
                <a:sym typeface="+mn-ea"/>
              </a:rPr>
              <a:t>Product Decision Matrix</a:t>
            </a:r>
            <a:br>
              <a:rPr lang="en-US" altLang="zh-CN" sz="1600" b="1">
                <a:latin typeface="Times New Roman" panose="02020603050405020304" charset="0"/>
                <a:cs typeface="Times New Roman" panose="02020603050405020304" charset="0"/>
                <a:sym typeface="+mn-ea"/>
              </a:rPr>
            </a:br>
            <a:r>
              <a:rPr lang="en-US" altLang="zh-CN" sz="1600">
                <a:latin typeface="Times New Roman" panose="02020603050405020304" charset="0"/>
                <a:cs typeface="Times New Roman" panose="02020603050405020304" charset="0"/>
                <a:sym typeface="+mn-ea"/>
              </a:rPr>
              <a:t>Provides a structured comparison of multiple products based on price, specifications, performance, availability, and other business requirements, enabling decision-makers to quickly identify the most suitable product.</a:t>
            </a:r>
            <a:endParaRPr lang="en-US" altLang="zh-CN" sz="1600">
              <a:latin typeface="Times New Roman" panose="02020603050405020304" charset="0"/>
              <a:cs typeface="Times New Roman" panose="02020603050405020304" charset="0"/>
            </a:endParaRPr>
          </a:p>
          <a:p>
            <a:endParaRPr lang="en-US" altLang="zh-CN" sz="1600"/>
          </a:p>
        </p:txBody>
      </p:sp>
      <p:sp>
        <p:nvSpPr>
          <p:cNvPr id="15" name="Down Arrow 14"/>
          <p:cNvSpPr/>
          <p:nvPr/>
        </p:nvSpPr>
        <p:spPr>
          <a:xfrm>
            <a:off x="9187815" y="4267835"/>
            <a:ext cx="379095" cy="747395"/>
          </a:xfrm>
          <a:prstGeom prst="downArrow">
            <a:avLst/>
          </a:prstGeom>
          <a:solidFill>
            <a:schemeClr val="bg2">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Text Box 7"/>
          <p:cNvSpPr txBox="1"/>
          <p:nvPr/>
        </p:nvSpPr>
        <p:spPr>
          <a:xfrm>
            <a:off x="313055" y="2898140"/>
            <a:ext cx="4516120" cy="1076325"/>
          </a:xfrm>
          <a:prstGeom prst="rect">
            <a:avLst/>
          </a:prstGeom>
        </p:spPr>
        <p:txBody>
          <a:bodyPr wrap="square">
            <a:spAutoFit/>
          </a:bodyPr>
          <a:lstStyle/>
          <a:p>
            <a:r>
              <a:rPr lang="en-US" altLang="zh-CN" sz="1600" b="1">
                <a:latin typeface="Times New Roman" panose="02020603050405020304" charset="0"/>
                <a:cs typeface="Times New Roman" panose="02020603050405020304" charset="0"/>
              </a:rPr>
              <a:t>Automated Multi-Country Competitor Research</a:t>
            </a:r>
            <a:endParaRPr lang="en-US" altLang="zh-CN" sz="1600">
              <a:latin typeface="Times New Roman" panose="02020603050405020304" charset="0"/>
              <a:cs typeface="Times New Roman" panose="02020603050405020304" charset="0"/>
            </a:endParaRPr>
          </a:p>
          <a:p>
            <a:pPr indent="0">
              <a:buFont typeface="Arial" panose="020B0604020202020204"/>
              <a:buNone/>
            </a:pPr>
            <a:r>
              <a:rPr lang="en-US" altLang="zh-CN" sz="1600">
                <a:latin typeface="Times New Roman" panose="02020603050405020304" charset="0"/>
                <a:cs typeface="Times New Roman" panose="02020603050405020304" charset="0"/>
              </a:rPr>
              <a:t>Use a Country Research Agent connected to web search services (MCP) to collect competitor product information from official vendor websites</a:t>
            </a:r>
            <a:endParaRPr lang="en-US" altLang="zh-CN" sz="1600">
              <a:latin typeface="Times New Roman" panose="02020603050405020304" charset="0"/>
              <a:cs typeface="Times New Roman" panose="02020603050405020304" charset="0"/>
            </a:endParaRPr>
          </a:p>
        </p:txBody>
      </p:sp>
      <p:sp>
        <p:nvSpPr>
          <p:cNvPr id="5" name="Text Box 4"/>
          <p:cNvSpPr txBox="1"/>
          <p:nvPr/>
        </p:nvSpPr>
        <p:spPr>
          <a:xfrm>
            <a:off x="7099300" y="3083560"/>
            <a:ext cx="4937760" cy="1076325"/>
          </a:xfrm>
          <a:prstGeom prst="rect">
            <a:avLst/>
          </a:prstGeom>
          <a:noFill/>
        </p:spPr>
        <p:txBody>
          <a:bodyPr wrap="square" rtlCol="0">
            <a:spAutoFit/>
          </a:bodyPr>
          <a:p>
            <a:r>
              <a:rPr lang="en-US" altLang="en-US" sz="1600" b="1">
                <a:latin typeface="Times New Roman" panose="02020603050405020304" charset="0"/>
                <a:cs typeface="Times New Roman" panose="02020603050405020304" charset="0"/>
              </a:rPr>
              <a:t>Procurement Alert System</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Sends alerts when important changes occur, such as product unavailability, price increases, new alternatives, or supplier changes.</a:t>
            </a:r>
            <a:endParaRPr lang="en-US" altLang="en-US" sz="1600">
              <a:latin typeface="Times New Roman" panose="02020603050405020304" charset="0"/>
              <a:cs typeface="Times New Roman" panose="02020603050405020304" charset="0"/>
            </a:endParaRPr>
          </a:p>
        </p:txBody>
      </p:sp>
      <p:sp>
        <p:nvSpPr>
          <p:cNvPr id="13" name="Text Box 12"/>
          <p:cNvSpPr txBox="1"/>
          <p:nvPr/>
        </p:nvSpPr>
        <p:spPr>
          <a:xfrm>
            <a:off x="7166610" y="5096510"/>
            <a:ext cx="4602480" cy="1322070"/>
          </a:xfrm>
          <a:prstGeom prst="rect">
            <a:avLst/>
          </a:prstGeom>
          <a:noFill/>
        </p:spPr>
        <p:txBody>
          <a:bodyPr wrap="square" rtlCol="0" anchor="t">
            <a:spAutoFit/>
          </a:bodyPr>
          <a:p>
            <a:r>
              <a:rPr lang="en-US" altLang="en-US" sz="1600" b="1">
                <a:latin typeface="Times New Roman" panose="02020603050405020304" charset="0"/>
                <a:cs typeface="Times New Roman" panose="02020603050405020304" charset="0"/>
              </a:rPr>
              <a:t>Automated Procurement Workflow</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Extends the platform from analysis to execution by supporting recommendation → approval → purchase request → procurement tracking, while keeping human approval in the loop.</a:t>
            </a:r>
            <a:endParaRPr lang="en-US" sz="1600">
              <a:latin typeface="Times New Roman" panose="02020603050405020304" charset="0"/>
              <a:cs typeface="Times New Roman" panose="02020603050405020304" charset="0"/>
            </a:endParaRPr>
          </a:p>
        </p:txBody>
      </p:sp>
      <p:sp>
        <p:nvSpPr>
          <p:cNvPr id="1048577" name="Rectangles 4"/>
          <p:cNvSpPr/>
          <p:nvPr/>
        </p:nvSpPr>
        <p:spPr>
          <a:xfrm rot="5400000">
            <a:off x="5908488" y="562078"/>
            <a:ext cx="383915"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4" name="Rectangles 7"/>
          <p:cNvSpPr/>
          <p:nvPr/>
        </p:nvSpPr>
        <p:spPr>
          <a:xfrm rot="10800000">
            <a:off x="0" y="2540"/>
            <a:ext cx="12192000" cy="36830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2097154" name="Image 0" descr="logo_full.png"/>
          <p:cNvPicPr>
            <a:picLocks noChangeAspect="1"/>
          </p:cNvPicPr>
          <p:nvPr/>
        </p:nvPicPr>
        <p:blipFill>
          <a:blip r:embed="rId2"/>
          <a:stretch>
            <a:fillRect/>
          </a:stretch>
        </p:blipFill>
        <p:spPr>
          <a:xfrm>
            <a:off x="10417505" y="74930"/>
            <a:ext cx="1554480" cy="229514"/>
          </a:xfrm>
          <a:prstGeom prst="rect">
            <a:avLst/>
          </a:prstGeom>
        </p:spPr>
      </p:pic>
      <p:sp>
        <p:nvSpPr>
          <p:cNvPr id="16" name="Text Box 15"/>
          <p:cNvSpPr txBox="1"/>
          <p:nvPr/>
        </p:nvSpPr>
        <p:spPr>
          <a:xfrm>
            <a:off x="92710" y="6492240"/>
            <a:ext cx="9188450" cy="521970"/>
          </a:xfrm>
          <a:prstGeom prst="rect">
            <a:avLst/>
          </a:prstGeom>
          <a:noFill/>
        </p:spPr>
        <p:txBody>
          <a:bodyPr wrap="square" rtlCol="0" anchor="t">
            <a:spAutoFit/>
          </a:bodyPr>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sym typeface="+mn-ea"/>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p:cNvSpPr/>
          <p:nvPr/>
        </p:nvSpPr>
        <p:spPr>
          <a:xfrm>
            <a:off x="258859" y="1104876"/>
            <a:ext cx="3754816" cy="216963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048606" name="Text Box 1"/>
          <p:cNvSpPr txBox="1"/>
          <p:nvPr/>
        </p:nvSpPr>
        <p:spPr>
          <a:xfrm>
            <a:off x="212725" y="370840"/>
            <a:ext cx="6057900" cy="583565"/>
          </a:xfrm>
          <a:prstGeom prst="rect">
            <a:avLst/>
          </a:prstGeom>
          <a:noFill/>
        </p:spPr>
        <p:txBody>
          <a:bodyPr wrap="square" rtlCol="0" anchor="t">
            <a:spAutoFit/>
          </a:bodyPr>
          <a:lstStyle/>
          <a:p>
            <a:pPr marL="0" indent="0">
              <a:buNone/>
            </a:pPr>
            <a:r>
              <a:rPr 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High-Level Architucture</a:t>
            </a:r>
            <a:r>
              <a:rPr lang="en-US" sz="3200" b="1" dirty="0">
                <a:solidFill>
                  <a:srgbClr val="2B2B2B"/>
                </a:solidFill>
                <a:latin typeface="Algerian" panose="04020705040A02060702" charset="0"/>
                <a:ea typeface="Cambria" panose="02040503050406030204" pitchFamily="34" charset="-122"/>
                <a:cs typeface="Algerian" panose="04020705040A02060702" charset="0"/>
                <a:sym typeface="+mn-ea"/>
              </a:rPr>
              <a:t> </a:t>
            </a:r>
            <a:endParaRPr lang="en-US" sz="3200" b="1" dirty="0">
              <a:solidFill>
                <a:srgbClr val="2B2B2B"/>
              </a:solidFill>
              <a:latin typeface="Algerian" panose="04020705040A02060702" charset="0"/>
              <a:ea typeface="Cambria" panose="02040503050406030204" pitchFamily="34" charset="-122"/>
              <a:cs typeface="Algerian" panose="04020705040A02060702" charset="0"/>
              <a:sym typeface="+mn-ea"/>
            </a:endParaRPr>
          </a:p>
        </p:txBody>
      </p:sp>
      <p:sp>
        <p:nvSpPr>
          <p:cNvPr id="5" name="Text Box 4"/>
          <p:cNvSpPr txBox="1"/>
          <p:nvPr/>
        </p:nvSpPr>
        <p:spPr>
          <a:xfrm>
            <a:off x="594164" y="3296350"/>
            <a:ext cx="3640293" cy="4009504"/>
          </a:xfrm>
          <a:prstGeom prst="rect">
            <a:avLst/>
          </a:prstGeom>
          <a:noFill/>
        </p:spPr>
        <p:txBody>
          <a:bodyPr wrap="square" rtlCol="0">
            <a:noAutofit/>
          </a:bodyPr>
          <a:lstStyle/>
          <a:p>
            <a:r>
              <a:rPr lang="en-US" altLang="en-US" b="1" dirty="0">
                <a:latin typeface="Times New Roman" panose="02020603050405020304" charset="0"/>
                <a:cs typeface="Times New Roman" panose="02020603050405020304" charset="0"/>
              </a:rPr>
              <a:t>1. Low-Code Application            </a:t>
            </a:r>
            <a:endParaRPr lang="en-US" altLang="en-US" b="1"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 User selects product </a:t>
            </a: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 Starts workflow </a:t>
            </a:r>
            <a:endParaRPr lang="en-US" altLang="en-US" dirty="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a:p>
            <a:r>
              <a:rPr lang="en-US" altLang="en-US" b="1" dirty="0">
                <a:latin typeface="Times New Roman" panose="02020603050405020304" charset="0"/>
                <a:cs typeface="Times New Roman" panose="02020603050405020304" charset="0"/>
              </a:rPr>
              <a:t>2 Supervisor Agent</a:t>
            </a:r>
            <a:endParaRPr lang="en-US" altLang="en-US" b="1"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 Plans tasks </a:t>
            </a: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 Coordinates AI agents </a:t>
            </a:r>
            <a:endParaRPr lang="en-US" altLang="en-US" dirty="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a:p>
            <a:r>
              <a:rPr lang="en-US" altLang="en-US" b="1" dirty="0">
                <a:latin typeface="Times New Roman" panose="02020603050405020304" charset="0"/>
                <a:cs typeface="Times New Roman" panose="02020603050405020304" charset="0"/>
              </a:rPr>
              <a:t>3. Internal Product Agent</a:t>
            </a:r>
            <a:endParaRPr lang="en-US" altLang="en-US" b="1"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 Retrieves product data </a:t>
            </a: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 Uses Azure AI Search (RAG) </a:t>
            </a:r>
            <a:endParaRPr lang="en-US" altLang="en-US" dirty="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 </a:t>
            </a:r>
            <a:endParaRPr lang="en-US" altLang="en-US" dirty="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p:txBody>
      </p:sp>
      <p:sp>
        <p:nvSpPr>
          <p:cNvPr id="6" name="Text Box 5"/>
          <p:cNvSpPr txBox="1"/>
          <p:nvPr/>
        </p:nvSpPr>
        <p:spPr>
          <a:xfrm>
            <a:off x="354196" y="1200368"/>
            <a:ext cx="3754817" cy="220060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altLang="en-US" b="1" dirty="0">
                <a:latin typeface="Times New Roman" panose="02020603050405020304" charset="0"/>
                <a:cs typeface="Times New Roman" panose="02020603050405020304" charset="0"/>
                <a:sym typeface="+mn-ea"/>
              </a:rPr>
              <a:t>Technology Stack</a:t>
            </a:r>
            <a:endParaRPr lang="en-US" altLang="en-US" b="1" dirty="0">
              <a:latin typeface="Times New Roman" panose="02020603050405020304" charset="0"/>
              <a:cs typeface="Times New Roman" panose="02020603050405020304" charset="0"/>
            </a:endParaRPr>
          </a:p>
          <a:p>
            <a:r>
              <a:rPr lang="en-US" altLang="en-US" sz="1700" dirty="0">
                <a:latin typeface="Times New Roman" panose="02020603050405020304" charset="0"/>
                <a:cs typeface="Times New Roman" panose="02020603050405020304" charset="0"/>
                <a:sym typeface="+mn-ea"/>
              </a:rPr>
              <a:t>Frontend: Low-Code Application </a:t>
            </a:r>
            <a:endParaRPr lang="en-US" altLang="en-US" sz="1700" dirty="0">
              <a:latin typeface="Times New Roman" panose="02020603050405020304" charset="0"/>
              <a:cs typeface="Times New Roman" panose="02020603050405020304" charset="0"/>
            </a:endParaRPr>
          </a:p>
          <a:p>
            <a:r>
              <a:rPr lang="en-US" altLang="en-US" sz="1700" dirty="0">
                <a:latin typeface="Times New Roman" panose="02020603050405020304" charset="0"/>
                <a:cs typeface="Times New Roman" panose="02020603050405020304" charset="0"/>
                <a:sym typeface="+mn-ea"/>
              </a:rPr>
              <a:t>Orchestration: Supervisor Agent </a:t>
            </a:r>
            <a:endParaRPr lang="en-US" altLang="en-US" sz="1700" dirty="0">
              <a:latin typeface="Times New Roman" panose="02020603050405020304" charset="0"/>
              <a:cs typeface="Times New Roman" panose="02020603050405020304" charset="0"/>
            </a:endParaRPr>
          </a:p>
          <a:p>
            <a:r>
              <a:rPr lang="en-US" altLang="en-US" sz="1700" dirty="0">
                <a:latin typeface="Times New Roman" panose="02020603050405020304" charset="0"/>
                <a:cs typeface="Times New Roman" panose="02020603050405020304" charset="0"/>
                <a:sym typeface="+mn-ea"/>
              </a:rPr>
              <a:t>Internal Search: Azure AI Search (RAG) </a:t>
            </a:r>
            <a:endParaRPr lang="en-US" altLang="en-US" sz="1700" dirty="0">
              <a:latin typeface="Times New Roman" panose="02020603050405020304" charset="0"/>
              <a:cs typeface="Times New Roman" panose="02020603050405020304" charset="0"/>
            </a:endParaRPr>
          </a:p>
          <a:p>
            <a:r>
              <a:rPr lang="en-US" altLang="en-US" sz="1700" dirty="0">
                <a:latin typeface="Times New Roman" panose="02020603050405020304" charset="0"/>
                <a:cs typeface="Times New Roman" panose="02020603050405020304" charset="0"/>
                <a:sym typeface="+mn-ea"/>
              </a:rPr>
              <a:t>External Search: MCP Web Search </a:t>
            </a:r>
            <a:endParaRPr lang="en-US" altLang="en-US" sz="1700" dirty="0">
              <a:latin typeface="Times New Roman" panose="02020603050405020304" charset="0"/>
              <a:cs typeface="Times New Roman" panose="02020603050405020304" charset="0"/>
            </a:endParaRPr>
          </a:p>
          <a:p>
            <a:r>
              <a:rPr lang="en-US" altLang="en-US" sz="1700" dirty="0">
                <a:latin typeface="Times New Roman" panose="02020603050405020304" charset="0"/>
                <a:cs typeface="Times New Roman" panose="02020603050405020304" charset="0"/>
                <a:sym typeface="+mn-ea"/>
              </a:rPr>
              <a:t>Storage: Azure Blob Storage </a:t>
            </a:r>
            <a:endParaRPr lang="en-US" altLang="en-US" sz="1700" dirty="0">
              <a:latin typeface="Times New Roman" panose="02020603050405020304" charset="0"/>
              <a:cs typeface="Times New Roman" panose="02020603050405020304" charset="0"/>
            </a:endParaRPr>
          </a:p>
          <a:p>
            <a:r>
              <a:rPr lang="en-US" altLang="en-US" sz="1700" dirty="0">
                <a:latin typeface="Times New Roman" panose="02020603050405020304" charset="0"/>
                <a:cs typeface="Times New Roman" panose="02020603050405020304" charset="0"/>
                <a:sym typeface="+mn-ea"/>
              </a:rPr>
              <a:t>Output: AI Comparison Report</a:t>
            </a:r>
            <a:endParaRPr lang="en-US" altLang="en-US" sz="1700" dirty="0">
              <a:latin typeface="Times New Roman" panose="02020603050405020304" charset="0"/>
              <a:cs typeface="Times New Roman" panose="02020603050405020304" charset="0"/>
            </a:endParaRPr>
          </a:p>
          <a:p>
            <a:endParaRPr lang="en-US" sz="1700" dirty="0"/>
          </a:p>
        </p:txBody>
      </p:sp>
      <p:sp>
        <p:nvSpPr>
          <p:cNvPr id="7" name="Text Box 6"/>
          <p:cNvSpPr txBox="1"/>
          <p:nvPr/>
        </p:nvSpPr>
        <p:spPr>
          <a:xfrm>
            <a:off x="8626009" y="4109643"/>
            <a:ext cx="3122295" cy="2308324"/>
          </a:xfrm>
          <a:prstGeom prst="rect">
            <a:avLst/>
          </a:prstGeom>
          <a:noFill/>
        </p:spPr>
        <p:txBody>
          <a:bodyPr wrap="square" rtlCol="0">
            <a:spAutoFit/>
          </a:bodyPr>
          <a:lstStyle/>
          <a:p>
            <a:endParaRPr lang="en-US" altLang="en-US" b="1" dirty="0">
              <a:latin typeface="Times New Roman" panose="02020603050405020304" charset="0"/>
              <a:cs typeface="Times New Roman" panose="02020603050405020304" charset="0"/>
              <a:sym typeface="+mn-ea"/>
            </a:endParaRPr>
          </a:p>
          <a:p>
            <a:r>
              <a:rPr lang="en-US" altLang="en-US" b="1" dirty="0">
                <a:latin typeface="Times New Roman" panose="02020603050405020304" charset="0"/>
                <a:cs typeface="Times New Roman" panose="02020603050405020304" charset="0"/>
                <a:sym typeface="+mn-ea"/>
              </a:rPr>
              <a:t>6. Product Comparison Agent</a:t>
            </a:r>
            <a:endParaRPr lang="en-US" altLang="en-US" b="1"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sym typeface="+mn-ea"/>
              </a:rPr>
              <a:t> Compares features </a:t>
            </a: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sym typeface="+mn-ea"/>
              </a:rPr>
              <a:t> Identifies differences </a:t>
            </a:r>
            <a:endParaRPr lang="en-US" altLang="en-US" dirty="0">
              <a:latin typeface="Times New Roman" panose="02020603050405020304" charset="0"/>
              <a:cs typeface="Times New Roman" panose="02020603050405020304" charset="0"/>
              <a:sym typeface="+mn-ea"/>
            </a:endParaRPr>
          </a:p>
          <a:p>
            <a:endParaRPr lang="en-US" altLang="en-US" dirty="0">
              <a:latin typeface="Times New Roman" panose="02020603050405020304" charset="0"/>
              <a:cs typeface="Times New Roman" panose="02020603050405020304" charset="0"/>
            </a:endParaRPr>
          </a:p>
          <a:p>
            <a:r>
              <a:rPr lang="en-US" altLang="en-US" b="1" dirty="0">
                <a:latin typeface="Times New Roman" panose="02020603050405020304" charset="0"/>
                <a:cs typeface="Times New Roman" panose="02020603050405020304" charset="0"/>
                <a:sym typeface="+mn-ea"/>
              </a:rPr>
              <a:t>7. Comparison Report</a:t>
            </a:r>
            <a:endParaRPr lang="en-US" altLang="en-US" b="1"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sym typeface="+mn-ea"/>
              </a:rPr>
              <a:t> Generates AI-powered insights </a:t>
            </a: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sym typeface="+mn-ea"/>
              </a:rPr>
              <a:t> Summarizes key findings</a:t>
            </a:r>
            <a:endParaRPr lang="en-US" dirty="0"/>
          </a:p>
        </p:txBody>
      </p:sp>
      <p:sp>
        <p:nvSpPr>
          <p:cNvPr id="8" name="TextBox 7"/>
          <p:cNvSpPr txBox="1"/>
          <p:nvPr/>
        </p:nvSpPr>
        <p:spPr>
          <a:xfrm>
            <a:off x="4207449" y="4460915"/>
            <a:ext cx="6128794" cy="2031325"/>
          </a:xfrm>
          <a:prstGeom prst="rect">
            <a:avLst/>
          </a:prstGeom>
          <a:noFill/>
        </p:spPr>
        <p:txBody>
          <a:bodyPr wrap="square">
            <a:spAutoFit/>
          </a:bodyPr>
          <a:lstStyle/>
          <a:p>
            <a:r>
              <a:rPr lang="en-US" altLang="en-US" sz="1800" b="1" dirty="0">
                <a:latin typeface="Times New Roman" panose="02020603050405020304" charset="0"/>
                <a:cs typeface="Times New Roman" panose="02020603050405020304" charset="0"/>
              </a:rPr>
              <a:t>4. Country Research Agent</a:t>
            </a:r>
            <a:endParaRPr lang="en-US" altLang="en-US" sz="1800" b="1" dirty="0">
              <a:latin typeface="Times New Roman" panose="02020603050405020304" charset="0"/>
              <a:cs typeface="Times New Roman" panose="02020603050405020304" charset="0"/>
            </a:endParaRPr>
          </a:p>
          <a:p>
            <a:r>
              <a:rPr lang="en-US" altLang="en-US" sz="1800" dirty="0">
                <a:latin typeface="Times New Roman" panose="02020603050405020304" charset="0"/>
                <a:cs typeface="Times New Roman" panose="02020603050405020304" charset="0"/>
              </a:rPr>
              <a:t> Searches competitor products </a:t>
            </a:r>
            <a:endParaRPr lang="en-US" altLang="en-US" sz="1800" dirty="0">
              <a:latin typeface="Times New Roman" panose="02020603050405020304" charset="0"/>
              <a:cs typeface="Times New Roman" panose="02020603050405020304" charset="0"/>
            </a:endParaRPr>
          </a:p>
          <a:p>
            <a:r>
              <a:rPr lang="en-US" altLang="en-US" sz="1800" dirty="0">
                <a:latin typeface="Times New Roman" panose="02020603050405020304" charset="0"/>
                <a:cs typeface="Times New Roman" panose="02020603050405020304" charset="0"/>
              </a:rPr>
              <a:t> Collects country-specific data </a:t>
            </a:r>
            <a:endParaRPr lang="en-US" altLang="en-US" sz="1800" dirty="0">
              <a:latin typeface="Times New Roman" panose="02020603050405020304" charset="0"/>
              <a:cs typeface="Times New Roman" panose="02020603050405020304" charset="0"/>
            </a:endParaRPr>
          </a:p>
          <a:p>
            <a:endParaRPr lang="en-US" altLang="en-US" sz="1800" dirty="0">
              <a:latin typeface="Times New Roman" panose="02020603050405020304" charset="0"/>
              <a:cs typeface="Times New Roman" panose="02020603050405020304" charset="0"/>
            </a:endParaRPr>
          </a:p>
          <a:p>
            <a:r>
              <a:rPr lang="en-US" altLang="en-US" sz="1800" b="1" dirty="0">
                <a:latin typeface="Times New Roman" panose="02020603050405020304" charset="0"/>
                <a:cs typeface="Times New Roman" panose="02020603050405020304" charset="0"/>
              </a:rPr>
              <a:t>5. MCP Web Search Server</a:t>
            </a:r>
            <a:endParaRPr lang="en-US" altLang="en-US" sz="1800" b="1" dirty="0">
              <a:latin typeface="Times New Roman" panose="02020603050405020304" charset="0"/>
              <a:cs typeface="Times New Roman" panose="02020603050405020304" charset="0"/>
            </a:endParaRPr>
          </a:p>
          <a:p>
            <a:r>
              <a:rPr lang="en-US" altLang="en-US" sz="1800" dirty="0">
                <a:latin typeface="Times New Roman" panose="02020603050405020304" charset="0"/>
                <a:cs typeface="Times New Roman" panose="02020603050405020304" charset="0"/>
              </a:rPr>
              <a:t> Provides real-time web information </a:t>
            </a:r>
            <a:endParaRPr lang="en-US" altLang="en-US" sz="1800" dirty="0">
              <a:latin typeface="Times New Roman" panose="02020603050405020304" charset="0"/>
              <a:cs typeface="Times New Roman" panose="02020603050405020304" charset="0"/>
            </a:endParaRPr>
          </a:p>
          <a:p>
            <a:r>
              <a:rPr lang="en-US" altLang="en-US" sz="1800" dirty="0">
                <a:latin typeface="Times New Roman" panose="02020603050405020304" charset="0"/>
                <a:cs typeface="Times New Roman" panose="02020603050405020304" charset="0"/>
              </a:rPr>
              <a:t> Retrieves official product details </a:t>
            </a:r>
            <a:endParaRPr lang="en-US" altLang="en-US" sz="1800" b="1" dirty="0">
              <a:latin typeface="Times New Roman" panose="02020603050405020304" charset="0"/>
              <a:cs typeface="Times New Roman" panose="02020603050405020304" charset="0"/>
              <a:sym typeface="+mn-ea"/>
            </a:endParaRPr>
          </a:p>
        </p:txBody>
      </p:sp>
      <p:sp>
        <p:nvSpPr>
          <p:cNvPr id="1048577" name="Rectangles 4"/>
          <p:cNvSpPr/>
          <p:nvPr/>
        </p:nvSpPr>
        <p:spPr>
          <a:xfrm rot="5400000">
            <a:off x="5908488" y="562078"/>
            <a:ext cx="383915"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80" name="Text 13"/>
          <p:cNvSpPr/>
          <p:nvPr/>
        </p:nvSpPr>
        <p:spPr>
          <a:xfrm>
            <a:off x="205740" y="6609080"/>
            <a:ext cx="8397875" cy="274320"/>
          </a:xfrm>
          <a:prstGeom prst="rect">
            <a:avLst/>
          </a:prstGeom>
          <a:noFill/>
        </p:spPr>
        <p:txBody>
          <a:bodyPr wrap="square" rtlCol="0" anchor="ctr"/>
          <a:lstStyle/>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sym typeface="+mn-ea"/>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p:txBody>
      </p:sp>
      <p:sp>
        <p:nvSpPr>
          <p:cNvPr id="3" name="Rectangles 7"/>
          <p:cNvSpPr/>
          <p:nvPr/>
        </p:nvSpPr>
        <p:spPr>
          <a:xfrm rot="10800000">
            <a:off x="0" y="2540"/>
            <a:ext cx="12192000" cy="36830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2097155" name="Image 0" descr="logo_full.png"/>
          <p:cNvPicPr>
            <a:picLocks noChangeAspect="1"/>
          </p:cNvPicPr>
          <p:nvPr/>
        </p:nvPicPr>
        <p:blipFill>
          <a:blip r:embed="rId1"/>
          <a:stretch>
            <a:fillRect/>
          </a:stretch>
        </p:blipFill>
        <p:spPr>
          <a:xfrm>
            <a:off x="10336225" y="45085"/>
            <a:ext cx="1554480" cy="229514"/>
          </a:xfrm>
          <a:prstGeom prst="rect">
            <a:avLst/>
          </a:prstGeom>
        </p:spPr>
      </p:pic>
      <p:pic>
        <p:nvPicPr>
          <p:cNvPr id="4" name="Picture 3"/>
          <p:cNvPicPr>
            <a:picLocks noChangeAspect="1"/>
          </p:cNvPicPr>
          <p:nvPr/>
        </p:nvPicPr>
        <p:blipFill>
          <a:blip r:embed="rId2"/>
          <a:stretch>
            <a:fillRect/>
          </a:stretch>
        </p:blipFill>
        <p:spPr>
          <a:xfrm>
            <a:off x="4061460" y="870585"/>
            <a:ext cx="7829550" cy="359029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hhh"/>
          <p:cNvPicPr>
            <a:picLocks noChangeAspect="1"/>
          </p:cNvPicPr>
          <p:nvPr/>
        </p:nvPicPr>
        <p:blipFill>
          <a:blip r:embed="rId1"/>
          <a:stretch>
            <a:fillRect/>
          </a:stretch>
        </p:blipFill>
        <p:spPr>
          <a:xfrm>
            <a:off x="7118985" y="304165"/>
            <a:ext cx="5073015" cy="6151880"/>
          </a:xfrm>
          <a:prstGeom prst="rect">
            <a:avLst/>
          </a:prstGeom>
        </p:spPr>
      </p:pic>
      <p:sp>
        <p:nvSpPr>
          <p:cNvPr id="1048606" name="Text Box 1"/>
          <p:cNvSpPr txBox="1"/>
          <p:nvPr/>
        </p:nvSpPr>
        <p:spPr>
          <a:xfrm>
            <a:off x="318770" y="421005"/>
            <a:ext cx="4396105" cy="583565"/>
          </a:xfrm>
          <a:prstGeom prst="rect">
            <a:avLst/>
          </a:prstGeom>
          <a:noFill/>
        </p:spPr>
        <p:txBody>
          <a:bodyPr wrap="square" rtlCol="0" anchor="t">
            <a:spAutoFit/>
          </a:bodyPr>
          <a:lstStyle/>
          <a:p>
            <a:pPr marL="0" indent="0">
              <a:buNone/>
            </a:pPr>
            <a:r>
              <a:rPr 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Product Comparison </a:t>
            </a:r>
            <a:endParaRPr 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endParaRPr>
          </a:p>
        </p:txBody>
      </p:sp>
      <p:sp>
        <p:nvSpPr>
          <p:cNvPr id="4" name="Text Box 3"/>
          <p:cNvSpPr txBox="1"/>
          <p:nvPr/>
        </p:nvSpPr>
        <p:spPr>
          <a:xfrm>
            <a:off x="212725" y="1120775"/>
            <a:ext cx="6786245" cy="1814830"/>
          </a:xfrm>
          <a:prstGeom prst="rect">
            <a:avLst/>
          </a:prstGeom>
        </p:spPr>
        <p:txBody>
          <a:bodyPr wrap="square">
            <a:spAutoFit/>
          </a:bodyPr>
          <a:lstStyle/>
          <a:p>
            <a:r>
              <a:rPr lang="en-US" altLang="en-US" sz="1600">
                <a:latin typeface="Times New Roman" panose="02020603050405020304" charset="0"/>
                <a:cs typeface="Times New Roman" panose="02020603050405020304" charset="0"/>
              </a:rPr>
              <a:t>The Product Comparison Report compares internal and competitor products using data from the knowledge base and official vendor websites. It provides pricing, technical specifications, availability, warranty details, and product </a:t>
            </a:r>
            <a:br>
              <a:rPr lang="en-US" altLang="en-US" sz="1600">
                <a:latin typeface="Times New Roman" panose="02020603050405020304" charset="0"/>
                <a:cs typeface="Times New Roman" panose="02020603050405020304" charset="0"/>
              </a:rPr>
            </a:br>
            <a:r>
              <a:rPr lang="en-US" altLang="en-US" sz="1600">
                <a:latin typeface="Times New Roman" panose="02020603050405020304" charset="0"/>
                <a:cs typeface="Times New Roman" panose="02020603050405020304" charset="0"/>
              </a:rPr>
              <a:t>match scores. The system uses AI-powered analysis and recommendations to identify the most suitable product based on user requirements. By combining internal data with real-time external information, the solution improves accuracy, </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reduces manual research effort, and saves time.</a:t>
            </a:r>
            <a:endParaRPr lang="en-US" altLang="en-US" sz="1600">
              <a:latin typeface="Times New Roman" panose="02020603050405020304" charset="0"/>
              <a:cs typeface="Times New Roman" panose="02020603050405020304" charset="0"/>
            </a:endParaRPr>
          </a:p>
        </p:txBody>
      </p:sp>
      <p:sp>
        <p:nvSpPr>
          <p:cNvPr id="5" name="Text Box 4"/>
          <p:cNvSpPr txBox="1"/>
          <p:nvPr/>
        </p:nvSpPr>
        <p:spPr>
          <a:xfrm>
            <a:off x="377190" y="4320540"/>
            <a:ext cx="6552565" cy="1814830"/>
          </a:xfrm>
          <a:prstGeom prst="rect">
            <a:avLst/>
          </a:prstGeom>
        </p:spPr>
        <p:txBody>
          <a:bodyPr wrap="square">
            <a:spAutoFit/>
          </a:bodyPr>
          <a:lstStyle/>
          <a:p>
            <a:pPr>
              <a:spcAft>
                <a:spcPct val="60000"/>
              </a:spcAft>
            </a:pPr>
            <a:r>
              <a:rPr lang="en-US" altLang="en-US" sz="1600">
                <a:latin typeface="Times New Roman" panose="02020603050405020304" charset="0"/>
                <a:cs typeface="Times New Roman" panose="02020603050405020304" charset="0"/>
              </a:rPr>
              <a:t>Compares internal products with multiple official vendors.</a:t>
            </a:r>
            <a:br>
              <a:rPr lang="en-US" altLang="en-US" sz="1600">
                <a:latin typeface="Times New Roman" panose="02020603050405020304" charset="0"/>
                <a:cs typeface="Times New Roman" panose="02020603050405020304" charset="0"/>
              </a:rPr>
            </a:br>
            <a:r>
              <a:rPr lang="en-US" altLang="en-US" sz="1600">
                <a:latin typeface="Times New Roman" panose="02020603050405020304" charset="0"/>
                <a:cs typeface="Times New Roman" panose="02020603050405020304" charset="0"/>
              </a:rPr>
              <a:t>Displays pricing, availability, shipping, and warranty details. </a:t>
            </a:r>
            <a:br>
              <a:rPr lang="en-US" altLang="en-US" sz="1600">
                <a:latin typeface="Times New Roman" panose="02020603050405020304" charset="0"/>
                <a:cs typeface="Times New Roman" panose="02020603050405020304" charset="0"/>
              </a:rPr>
            </a:br>
            <a:r>
              <a:rPr lang="en-US" altLang="en-US" sz="1600">
                <a:latin typeface="Times New Roman" panose="02020603050405020304" charset="0"/>
                <a:cs typeface="Times New Roman" panose="02020603050405020304" charset="0"/>
              </a:rPr>
              <a:t>Calculates AI-based product match scores.</a:t>
            </a:r>
            <a:br>
              <a:rPr lang="en-US" altLang="en-US" sz="1600">
                <a:latin typeface="Times New Roman" panose="02020603050405020304" charset="0"/>
                <a:cs typeface="Times New Roman" panose="02020603050405020304" charset="0"/>
              </a:rPr>
            </a:br>
            <a:r>
              <a:rPr lang="en-US" altLang="en-US" sz="1600">
                <a:latin typeface="Times New Roman" panose="02020603050405020304" charset="0"/>
                <a:cs typeface="Times New Roman" panose="02020603050405020304" charset="0"/>
              </a:rPr>
              <a:t>Performs pricing and availability analysis.</a:t>
            </a:r>
            <a:br>
              <a:rPr lang="en-US" altLang="en-US" sz="1600">
                <a:latin typeface="Times New Roman" panose="02020603050405020304" charset="0"/>
                <a:cs typeface="Times New Roman" panose="02020603050405020304" charset="0"/>
              </a:rPr>
            </a:br>
            <a:r>
              <a:rPr lang="en-US" altLang="en-US" sz="1600">
                <a:latin typeface="Times New Roman" panose="02020603050405020304" charset="0"/>
                <a:cs typeface="Times New Roman" panose="02020603050405020304" charset="0"/>
              </a:rPr>
              <a:t>Highlights key differences and advantages between products.</a:t>
            </a:r>
            <a:br>
              <a:rPr lang="en-US" altLang="en-US" sz="1600">
                <a:latin typeface="Times New Roman" panose="02020603050405020304" charset="0"/>
                <a:cs typeface="Times New Roman" panose="02020603050405020304" charset="0"/>
              </a:rPr>
            </a:br>
            <a:r>
              <a:rPr lang="en-US" altLang="en-US" sz="1600">
                <a:latin typeface="Times New Roman" panose="02020603050405020304" charset="0"/>
                <a:cs typeface="Times New Roman" panose="02020603050405020304" charset="0"/>
              </a:rPr>
              <a:t>Recommends the best vendor based on overall comparison. </a:t>
            </a:r>
            <a:br>
              <a:rPr lang="en-US" altLang="en-US" sz="1600">
                <a:latin typeface="Times New Roman" panose="02020603050405020304" charset="0"/>
                <a:cs typeface="Times New Roman" panose="02020603050405020304" charset="0"/>
              </a:rPr>
            </a:br>
            <a:r>
              <a:rPr lang="en-US" altLang="en-US" sz="1600">
                <a:latin typeface="Times New Roman" panose="02020603050405020304" charset="0"/>
                <a:cs typeface="Times New Roman" panose="02020603050405020304" charset="0"/>
              </a:rPr>
              <a:t>Generates a professional report for quick business decisions.</a:t>
            </a:r>
            <a:endParaRPr lang="en-US" altLang="en-US" sz="1600">
              <a:latin typeface="Times New Roman" panose="02020603050405020304" charset="0"/>
              <a:cs typeface="Times New Roman" panose="02020603050405020304" charset="0"/>
            </a:endParaRPr>
          </a:p>
        </p:txBody>
      </p:sp>
      <p:sp>
        <p:nvSpPr>
          <p:cNvPr id="6" name="Up Arrow 5"/>
          <p:cNvSpPr/>
          <p:nvPr/>
        </p:nvSpPr>
        <p:spPr>
          <a:xfrm>
            <a:off x="2659380" y="3051810"/>
            <a:ext cx="390525" cy="906780"/>
          </a:xfrm>
          <a:prstGeom prst="upArrow">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Up Arrow 6"/>
          <p:cNvSpPr/>
          <p:nvPr/>
        </p:nvSpPr>
        <p:spPr>
          <a:xfrm rot="10800000">
            <a:off x="3098165" y="3051810"/>
            <a:ext cx="427990" cy="927100"/>
          </a:xfrm>
          <a:prstGeom prst="upArrow">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77" name="Rectangles 4"/>
          <p:cNvSpPr/>
          <p:nvPr/>
        </p:nvSpPr>
        <p:spPr>
          <a:xfrm rot="5400000">
            <a:off x="5908488" y="562078"/>
            <a:ext cx="383915"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80" name="Text 13"/>
          <p:cNvSpPr/>
          <p:nvPr/>
        </p:nvSpPr>
        <p:spPr>
          <a:xfrm>
            <a:off x="205740" y="6590665"/>
            <a:ext cx="8100695" cy="274320"/>
          </a:xfrm>
          <a:prstGeom prst="rect">
            <a:avLst/>
          </a:prstGeom>
          <a:noFill/>
        </p:spPr>
        <p:txBody>
          <a:bodyPr wrap="square" rtlCol="0" anchor="ctr"/>
          <a:lstStyle/>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sym typeface="+mn-ea"/>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p:txBody>
      </p:sp>
      <p:sp>
        <p:nvSpPr>
          <p:cNvPr id="2" name="Rectangles 7"/>
          <p:cNvSpPr/>
          <p:nvPr/>
        </p:nvSpPr>
        <p:spPr>
          <a:xfrm rot="10800000">
            <a:off x="0" y="2540"/>
            <a:ext cx="12192000" cy="36830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2097155" name="Image 0" descr="logo_full.png"/>
          <p:cNvPicPr>
            <a:picLocks noChangeAspect="1"/>
          </p:cNvPicPr>
          <p:nvPr/>
        </p:nvPicPr>
        <p:blipFill>
          <a:blip r:embed="rId2"/>
          <a:stretch>
            <a:fillRect/>
          </a:stretch>
        </p:blipFill>
        <p:spPr>
          <a:xfrm>
            <a:off x="10369245" y="74930"/>
            <a:ext cx="1554480" cy="229514"/>
          </a:xfrm>
          <a:prstGeom prst="rect">
            <a:avLst/>
          </a:prstGeom>
        </p:spPr>
      </p:pic>
      <p:sp>
        <p:nvSpPr>
          <p:cNvPr id="3" name="Right Arrow 2"/>
          <p:cNvSpPr/>
          <p:nvPr/>
        </p:nvSpPr>
        <p:spPr>
          <a:xfrm>
            <a:off x="111760" y="4636135"/>
            <a:ext cx="265430" cy="177165"/>
          </a:xfrm>
          <a:prstGeom prst="rightArrow">
            <a:avLst/>
          </a:prstGeom>
          <a:solidFill>
            <a:schemeClr val="bg2">
              <a:lumMod val="50000"/>
            </a:schemeClr>
          </a:solidFill>
          <a:ln>
            <a:gradFill>
              <a:gsLst>
                <a:gs pos="50000">
                  <a:schemeClr val="accent3"/>
                </a:gs>
                <a:gs pos="0">
                  <a:schemeClr val="accent3">
                    <a:lumMod val="25000"/>
                    <a:lumOff val="75000"/>
                  </a:schemeClr>
                </a:gs>
                <a:gs pos="100000">
                  <a:schemeClr val="accent3">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ight Arrow 7"/>
          <p:cNvSpPr/>
          <p:nvPr/>
        </p:nvSpPr>
        <p:spPr>
          <a:xfrm>
            <a:off x="111760" y="4396105"/>
            <a:ext cx="265430" cy="177165"/>
          </a:xfrm>
          <a:prstGeom prst="right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Right Arrow 8"/>
          <p:cNvSpPr/>
          <p:nvPr/>
        </p:nvSpPr>
        <p:spPr>
          <a:xfrm>
            <a:off x="111760" y="4882515"/>
            <a:ext cx="265430" cy="177165"/>
          </a:xfrm>
          <a:prstGeom prst="right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Right Arrow 10"/>
          <p:cNvSpPr/>
          <p:nvPr/>
        </p:nvSpPr>
        <p:spPr>
          <a:xfrm>
            <a:off x="111760" y="5128895"/>
            <a:ext cx="265430" cy="177165"/>
          </a:xfrm>
          <a:prstGeom prst="rightArrow">
            <a:avLst/>
          </a:prstGeom>
          <a:solidFill>
            <a:schemeClr val="bg2">
              <a:lumMod val="50000"/>
            </a:schemeClr>
          </a:solidFill>
          <a:ln>
            <a:gradFill>
              <a:gsLst>
                <a:gs pos="50000">
                  <a:schemeClr val="accent3"/>
                </a:gs>
                <a:gs pos="0">
                  <a:schemeClr val="accent3">
                    <a:lumMod val="25000"/>
                    <a:lumOff val="75000"/>
                  </a:schemeClr>
                </a:gs>
                <a:gs pos="100000">
                  <a:schemeClr val="accent3">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Right Arrow 11"/>
          <p:cNvSpPr/>
          <p:nvPr/>
        </p:nvSpPr>
        <p:spPr>
          <a:xfrm>
            <a:off x="111760" y="5375275"/>
            <a:ext cx="265430" cy="177165"/>
          </a:xfrm>
          <a:prstGeom prst="right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3" name="Right Arrow 12"/>
          <p:cNvSpPr/>
          <p:nvPr/>
        </p:nvSpPr>
        <p:spPr>
          <a:xfrm>
            <a:off x="111760" y="5643245"/>
            <a:ext cx="265430" cy="177165"/>
          </a:xfrm>
          <a:prstGeom prst="rightArrow">
            <a:avLst/>
          </a:prstGeom>
          <a:solidFill>
            <a:schemeClr val="bg2">
              <a:lumMod val="50000"/>
            </a:schemeClr>
          </a:solidFill>
          <a:ln>
            <a:gradFill>
              <a:gsLst>
                <a:gs pos="50000">
                  <a:schemeClr val="accent3"/>
                </a:gs>
                <a:gs pos="0">
                  <a:schemeClr val="accent3">
                    <a:lumMod val="25000"/>
                    <a:lumOff val="75000"/>
                  </a:schemeClr>
                </a:gs>
                <a:gs pos="100000">
                  <a:schemeClr val="accent3">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Right Arrow 13"/>
          <p:cNvSpPr/>
          <p:nvPr/>
        </p:nvSpPr>
        <p:spPr>
          <a:xfrm>
            <a:off x="111760" y="5911215"/>
            <a:ext cx="265430" cy="177165"/>
          </a:xfrm>
          <a:prstGeom prst="right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ork flowwww"/>
          <p:cNvPicPr>
            <a:picLocks noChangeAspect="1"/>
          </p:cNvPicPr>
          <p:nvPr/>
        </p:nvPicPr>
        <p:blipFill>
          <a:blip r:embed="rId1"/>
          <a:stretch>
            <a:fillRect/>
          </a:stretch>
        </p:blipFill>
        <p:spPr>
          <a:xfrm>
            <a:off x="356235" y="835025"/>
            <a:ext cx="11269345" cy="5599430"/>
          </a:xfrm>
          <a:prstGeom prst="rect">
            <a:avLst/>
          </a:prstGeom>
        </p:spPr>
      </p:pic>
      <p:sp>
        <p:nvSpPr>
          <p:cNvPr id="1048577" name="Rectangles 4"/>
          <p:cNvSpPr/>
          <p:nvPr/>
        </p:nvSpPr>
        <p:spPr>
          <a:xfrm rot="5400000">
            <a:off x="5908488" y="562078"/>
            <a:ext cx="383915"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6" name="Rectangles 7"/>
          <p:cNvSpPr/>
          <p:nvPr/>
        </p:nvSpPr>
        <p:spPr>
          <a:xfrm rot="10800000">
            <a:off x="0" y="2540"/>
            <a:ext cx="12192000" cy="36830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2097157" name="Image 0" descr="logo_full.png"/>
          <p:cNvPicPr>
            <a:picLocks noChangeAspect="1"/>
          </p:cNvPicPr>
          <p:nvPr/>
        </p:nvPicPr>
        <p:blipFill>
          <a:blip r:embed="rId2"/>
          <a:stretch>
            <a:fillRect/>
          </a:stretch>
        </p:blipFill>
        <p:spPr>
          <a:xfrm>
            <a:off x="10297490" y="50800"/>
            <a:ext cx="1554480" cy="229514"/>
          </a:xfrm>
          <a:prstGeom prst="rect">
            <a:avLst/>
          </a:prstGeom>
        </p:spPr>
      </p:pic>
      <p:sp>
        <p:nvSpPr>
          <p:cNvPr id="14" name="Text Box 13"/>
          <p:cNvSpPr txBox="1"/>
          <p:nvPr/>
        </p:nvSpPr>
        <p:spPr>
          <a:xfrm>
            <a:off x="610235" y="4043680"/>
            <a:ext cx="5080000" cy="337185"/>
          </a:xfrm>
          <a:prstGeom prst="rect">
            <a:avLst/>
          </a:prstGeom>
        </p:spPr>
        <p:txBody>
          <a:bodyPr>
            <a:spAutoFit/>
          </a:bodyPr>
          <a:p>
            <a:endParaRPr lang="en-US" altLang="en-US" sz="1600"/>
          </a:p>
        </p:txBody>
      </p:sp>
      <p:sp>
        <p:nvSpPr>
          <p:cNvPr id="16" name="Text Box 15"/>
          <p:cNvSpPr txBox="1"/>
          <p:nvPr/>
        </p:nvSpPr>
        <p:spPr>
          <a:xfrm>
            <a:off x="5690235" y="1107440"/>
            <a:ext cx="5769610" cy="337185"/>
          </a:xfrm>
          <a:prstGeom prst="rect">
            <a:avLst/>
          </a:prstGeom>
        </p:spPr>
        <p:txBody>
          <a:bodyPr wrap="square">
            <a:spAutoFit/>
          </a:bodyPr>
          <a:p>
            <a:endParaRPr lang="en-US" altLang="en-US" sz="1600"/>
          </a:p>
        </p:txBody>
      </p:sp>
      <p:sp>
        <p:nvSpPr>
          <p:cNvPr id="18" name="Text Box 17"/>
          <p:cNvSpPr txBox="1"/>
          <p:nvPr/>
        </p:nvSpPr>
        <p:spPr>
          <a:xfrm>
            <a:off x="528955" y="5038408"/>
            <a:ext cx="5080000" cy="337185"/>
          </a:xfrm>
          <a:prstGeom prst="rect">
            <a:avLst/>
          </a:prstGeom>
        </p:spPr>
        <p:txBody>
          <a:bodyPr>
            <a:spAutoFit/>
          </a:bodyPr>
          <a:p>
            <a:endParaRPr lang="en-US" altLang="en-US" sz="1600"/>
          </a:p>
        </p:txBody>
      </p:sp>
      <p:sp>
        <p:nvSpPr>
          <p:cNvPr id="21" name="Text Box 20"/>
          <p:cNvSpPr txBox="1"/>
          <p:nvPr/>
        </p:nvSpPr>
        <p:spPr>
          <a:xfrm>
            <a:off x="462915" y="2573972"/>
            <a:ext cx="5080000" cy="337185"/>
          </a:xfrm>
          <a:prstGeom prst="rect">
            <a:avLst/>
          </a:prstGeom>
        </p:spPr>
        <p:txBody>
          <a:bodyPr>
            <a:spAutoFit/>
          </a:bodyPr>
          <a:p>
            <a:endParaRPr lang="en-US" altLang="en-US" sz="1600"/>
          </a:p>
        </p:txBody>
      </p:sp>
      <p:sp>
        <p:nvSpPr>
          <p:cNvPr id="22" name="Text Box 21"/>
          <p:cNvSpPr txBox="1"/>
          <p:nvPr/>
        </p:nvSpPr>
        <p:spPr>
          <a:xfrm>
            <a:off x="5690235" y="2047558"/>
            <a:ext cx="5080000" cy="337185"/>
          </a:xfrm>
          <a:prstGeom prst="rect">
            <a:avLst/>
          </a:prstGeom>
        </p:spPr>
        <p:txBody>
          <a:bodyPr>
            <a:spAutoFit/>
          </a:bodyPr>
          <a:p>
            <a:endParaRPr lang="en-US" altLang="en-US" sz="1600"/>
          </a:p>
        </p:txBody>
      </p:sp>
      <p:sp>
        <p:nvSpPr>
          <p:cNvPr id="2" name="Text Box 1"/>
          <p:cNvSpPr txBox="1"/>
          <p:nvPr/>
        </p:nvSpPr>
        <p:spPr>
          <a:xfrm>
            <a:off x="67945" y="6527165"/>
            <a:ext cx="8823325" cy="521970"/>
          </a:xfrm>
          <a:prstGeom prst="rect">
            <a:avLst/>
          </a:prstGeom>
          <a:noFill/>
        </p:spPr>
        <p:txBody>
          <a:bodyPr wrap="square" rtlCol="0" anchor="t">
            <a:spAutoFit/>
          </a:bodyPr>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sym typeface="+mn-ea"/>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p:txBody>
      </p:sp>
      <p:sp>
        <p:nvSpPr>
          <p:cNvPr id="1048608" name="Text Box 1"/>
          <p:cNvSpPr txBox="1"/>
          <p:nvPr/>
        </p:nvSpPr>
        <p:spPr>
          <a:xfrm>
            <a:off x="462915" y="339090"/>
            <a:ext cx="2431415" cy="429895"/>
          </a:xfrm>
          <a:prstGeom prst="rect">
            <a:avLst/>
          </a:prstGeom>
          <a:noFill/>
        </p:spPr>
        <p:txBody>
          <a:bodyPr wrap="square" rtlCol="0" anchor="t">
            <a:noAutofit/>
          </a:bodyPr>
          <a:lstStyle/>
          <a:p>
            <a:pPr marL="0" indent="0">
              <a:buNone/>
            </a:pPr>
            <a:r>
              <a:rPr 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Work Flow</a:t>
            </a:r>
            <a:endParaRPr 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ext Box 1"/>
          <p:cNvSpPr txBox="1"/>
          <p:nvPr/>
        </p:nvSpPr>
        <p:spPr>
          <a:xfrm>
            <a:off x="212725" y="431800"/>
            <a:ext cx="5180330" cy="629920"/>
          </a:xfrm>
          <a:prstGeom prst="rect">
            <a:avLst/>
          </a:prstGeom>
          <a:noFill/>
        </p:spPr>
        <p:txBody>
          <a:bodyPr wrap="square" rtlCol="0" anchor="t">
            <a:spAutoFit/>
          </a:bodyPr>
          <a:lstStyle/>
          <a:p>
            <a:pPr marL="0" indent="0">
              <a:buNone/>
            </a:pPr>
            <a:r>
              <a:rPr lang="en-IN" altLang="en-US" sz="3500"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Industries Utiliziations</a:t>
            </a:r>
            <a:endParaRPr lang="en-IN" altLang="en-US" sz="3500" b="1" dirty="0">
              <a:solidFill>
                <a:srgbClr val="2B2B2B"/>
              </a:solidFill>
              <a:latin typeface="Times New Roman" panose="02020603050405020304" charset="0"/>
              <a:ea typeface="Cambria" panose="02040503050406030204" pitchFamily="34" charset="-122"/>
              <a:cs typeface="Times New Roman" panose="02020603050405020304" charset="0"/>
              <a:sym typeface="+mn-ea"/>
            </a:endParaRPr>
          </a:p>
        </p:txBody>
      </p:sp>
      <p:grpSp>
        <p:nvGrpSpPr>
          <p:cNvPr id="4" name="Group 3"/>
          <p:cNvGrpSpPr/>
          <p:nvPr/>
        </p:nvGrpSpPr>
        <p:grpSpPr>
          <a:xfrm>
            <a:off x="212725" y="1357772"/>
            <a:ext cx="11699569" cy="4842818"/>
            <a:chOff x="212725" y="1357772"/>
            <a:chExt cx="11699569" cy="4842818"/>
          </a:xfrm>
        </p:grpSpPr>
        <p:sp>
          <p:nvSpPr>
            <p:cNvPr id="5" name="Freeform: Shape 4"/>
            <p:cNvSpPr/>
            <p:nvPr/>
          </p:nvSpPr>
          <p:spPr>
            <a:xfrm>
              <a:off x="212725" y="1357772"/>
              <a:ext cx="3656115" cy="2193669"/>
            </a:xfrm>
            <a:custGeom>
              <a:avLst/>
              <a:gdLst>
                <a:gd name="connsiteX0" fmla="*/ 0 w 3656115"/>
                <a:gd name="connsiteY0" fmla="*/ 0 h 2193669"/>
                <a:gd name="connsiteX1" fmla="*/ 3656115 w 3656115"/>
                <a:gd name="connsiteY1" fmla="*/ 0 h 2193669"/>
                <a:gd name="connsiteX2" fmla="*/ 3656115 w 3656115"/>
                <a:gd name="connsiteY2" fmla="*/ 2193669 h 2193669"/>
                <a:gd name="connsiteX3" fmla="*/ 0 w 3656115"/>
                <a:gd name="connsiteY3" fmla="*/ 2193669 h 2193669"/>
                <a:gd name="connsiteX4" fmla="*/ 0 w 3656115"/>
                <a:gd name="connsiteY4" fmla="*/ 0 h 219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115" h="2193669">
                  <a:moveTo>
                    <a:pt x="0" y="0"/>
                  </a:moveTo>
                  <a:lnTo>
                    <a:pt x="3656115" y="0"/>
                  </a:lnTo>
                  <a:lnTo>
                    <a:pt x="3656115" y="2193669"/>
                  </a:lnTo>
                  <a:lnTo>
                    <a:pt x="0" y="2193669"/>
                  </a:lnTo>
                  <a:lnTo>
                    <a:pt x="0" y="0"/>
                  </a:lnTo>
                  <a:close/>
                </a:path>
              </a:pathLst>
            </a:custGeom>
          </p:spPr>
          <p:style>
            <a:lnRef idx="0">
              <a:schemeClr val="dk2">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2">
                <a:hueOff val="0"/>
                <a:satOff val="0"/>
                <a:lumOff val="0"/>
                <a:alphaOff val="0"/>
              </a:schemeClr>
            </a:fontRef>
          </p:style>
          <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a:solidFill>
                    <a:schemeClr val="tx1"/>
                  </a:solidFill>
                  <a:latin typeface="Times New Roman" panose="02020603050405020304" charset="0"/>
                  <a:cs typeface="Times New Roman" panose="02020603050405020304" charset="0"/>
                </a:rPr>
                <a:t>Enterprise IT procurement</a:t>
              </a:r>
              <a:endParaRPr lang="en-US" sz="2200" b="1" kern="1200" dirty="0">
                <a:solidFill>
                  <a:schemeClr val="tx1"/>
                </a:solidFill>
                <a:latin typeface="Times New Roman" panose="02020603050405020304" charset="0"/>
                <a:cs typeface="Times New Roman" panose="02020603050405020304" charset="0"/>
              </a:endParaRPr>
            </a:p>
            <a:p>
              <a:pPr marL="0" lvl="0" indent="0" algn="ctr" defTabSz="977900">
                <a:lnSpc>
                  <a:spcPct val="90000"/>
                </a:lnSpc>
                <a:spcBef>
                  <a:spcPct val="0"/>
                </a:spcBef>
                <a:spcAft>
                  <a:spcPct val="35000"/>
                </a:spcAft>
                <a:buNone/>
              </a:pPr>
              <a:r>
                <a:rPr lang="en-US" sz="2000" kern="1200" dirty="0">
                  <a:solidFill>
                    <a:schemeClr val="tx1"/>
                  </a:solidFill>
                  <a:latin typeface="Times New Roman" panose="02020603050405020304" charset="0"/>
                  <a:cs typeface="Times New Roman" panose="02020603050405020304" charset="0"/>
                </a:rPr>
                <a:t>Compares IT products, specifications, pricing, vendors, and availability before purchasing.</a:t>
              </a:r>
              <a:endParaRPr lang="en-US" sz="2000" kern="1200" dirty="0">
                <a:solidFill>
                  <a:schemeClr val="tx1"/>
                </a:solidFill>
                <a:latin typeface="Times New Roman" panose="02020603050405020304" charset="0"/>
                <a:cs typeface="Times New Roman" panose="02020603050405020304" charset="0"/>
              </a:endParaRPr>
            </a:p>
          </p:txBody>
        </p:sp>
        <p:sp>
          <p:nvSpPr>
            <p:cNvPr id="6" name="Freeform: Shape 5"/>
            <p:cNvSpPr/>
            <p:nvPr/>
          </p:nvSpPr>
          <p:spPr>
            <a:xfrm>
              <a:off x="4234452" y="1357772"/>
              <a:ext cx="3656115" cy="2193669"/>
            </a:xfrm>
            <a:custGeom>
              <a:avLst/>
              <a:gdLst>
                <a:gd name="connsiteX0" fmla="*/ 0 w 3656115"/>
                <a:gd name="connsiteY0" fmla="*/ 0 h 2193669"/>
                <a:gd name="connsiteX1" fmla="*/ 3656115 w 3656115"/>
                <a:gd name="connsiteY1" fmla="*/ 0 h 2193669"/>
                <a:gd name="connsiteX2" fmla="*/ 3656115 w 3656115"/>
                <a:gd name="connsiteY2" fmla="*/ 2193669 h 2193669"/>
                <a:gd name="connsiteX3" fmla="*/ 0 w 3656115"/>
                <a:gd name="connsiteY3" fmla="*/ 2193669 h 2193669"/>
                <a:gd name="connsiteX4" fmla="*/ 0 w 3656115"/>
                <a:gd name="connsiteY4" fmla="*/ 0 h 219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115" h="2193669">
                  <a:moveTo>
                    <a:pt x="0" y="0"/>
                  </a:moveTo>
                  <a:lnTo>
                    <a:pt x="3656115" y="0"/>
                  </a:lnTo>
                  <a:lnTo>
                    <a:pt x="3656115" y="2193669"/>
                  </a:lnTo>
                  <a:lnTo>
                    <a:pt x="0" y="2193669"/>
                  </a:lnTo>
                  <a:lnTo>
                    <a:pt x="0" y="0"/>
                  </a:lnTo>
                  <a:close/>
                </a:path>
              </a:pathLst>
            </a:custGeom>
          </p:spPr>
          <p:style>
            <a:lnRef idx="0">
              <a:schemeClr val="dk2">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2">
                <a:hueOff val="0"/>
                <a:satOff val="0"/>
                <a:lumOff val="0"/>
                <a:alphaOff val="0"/>
              </a:schemeClr>
            </a:fontRef>
          </p:style>
          <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a:solidFill>
                    <a:schemeClr val="tx1"/>
                  </a:solidFill>
                  <a:latin typeface="Times New Roman" panose="02020603050405020304" charset="0"/>
                  <a:cs typeface="Times New Roman" panose="02020603050405020304" charset="0"/>
                </a:rPr>
                <a:t>Multi-country procurement</a:t>
              </a:r>
              <a:endParaRPr lang="en-US" sz="2200" b="1" kern="1200" dirty="0">
                <a:solidFill>
                  <a:schemeClr val="tx1"/>
                </a:solidFill>
                <a:latin typeface="Times New Roman" panose="02020603050405020304" charset="0"/>
                <a:cs typeface="Times New Roman" panose="02020603050405020304" charset="0"/>
              </a:endParaRPr>
            </a:p>
            <a:p>
              <a:pPr marL="0" lvl="0" indent="0" algn="ctr" defTabSz="977900">
                <a:lnSpc>
                  <a:spcPct val="90000"/>
                </a:lnSpc>
                <a:spcBef>
                  <a:spcPct val="0"/>
                </a:spcBef>
                <a:spcAft>
                  <a:spcPct val="35000"/>
                </a:spcAft>
                <a:buNone/>
              </a:pPr>
              <a:r>
                <a:rPr lang="en-US" sz="2000" kern="1200" dirty="0">
                  <a:solidFill>
                    <a:schemeClr val="tx1"/>
                  </a:solidFill>
                  <a:latin typeface="Times New Roman" panose="02020603050405020304" charset="0"/>
                  <a:cs typeface="Times New Roman" panose="02020603050405020304" charset="0"/>
                </a:rPr>
                <a:t>This is one of the </a:t>
              </a:r>
              <a:r>
                <a:rPr lang="en-US" sz="2000" b="1" kern="1200" dirty="0">
                  <a:solidFill>
                    <a:schemeClr val="tx1"/>
                  </a:solidFill>
                  <a:latin typeface="Times New Roman" panose="02020603050405020304" charset="0"/>
                  <a:cs typeface="Times New Roman" panose="02020603050405020304" charset="0"/>
                </a:rPr>
                <a:t>strongest matches</a:t>
              </a:r>
              <a:r>
                <a:rPr lang="en-US" sz="2000" kern="1200" dirty="0">
                  <a:solidFill>
                    <a:schemeClr val="tx1"/>
                  </a:solidFill>
                  <a:latin typeface="Times New Roman" panose="02020603050405020304" charset="0"/>
                  <a:cs typeface="Times New Roman" panose="02020603050405020304" charset="0"/>
                </a:rPr>
                <a:t> because your system compares products and market information across different countries.</a:t>
              </a:r>
              <a:endParaRPr lang="en-US" sz="2000" kern="1200" dirty="0">
                <a:solidFill>
                  <a:schemeClr val="tx1"/>
                </a:solidFill>
                <a:latin typeface="Times New Roman" panose="02020603050405020304" charset="0"/>
                <a:cs typeface="Times New Roman" panose="02020603050405020304" charset="0"/>
              </a:endParaRPr>
            </a:p>
          </p:txBody>
        </p:sp>
        <p:sp>
          <p:nvSpPr>
            <p:cNvPr id="7" name="Freeform: Shape 6"/>
            <p:cNvSpPr/>
            <p:nvPr/>
          </p:nvSpPr>
          <p:spPr>
            <a:xfrm>
              <a:off x="8256179" y="1357772"/>
              <a:ext cx="3656115" cy="2193669"/>
            </a:xfrm>
            <a:custGeom>
              <a:avLst/>
              <a:gdLst>
                <a:gd name="connsiteX0" fmla="*/ 0 w 3656115"/>
                <a:gd name="connsiteY0" fmla="*/ 0 h 2193669"/>
                <a:gd name="connsiteX1" fmla="*/ 3656115 w 3656115"/>
                <a:gd name="connsiteY1" fmla="*/ 0 h 2193669"/>
                <a:gd name="connsiteX2" fmla="*/ 3656115 w 3656115"/>
                <a:gd name="connsiteY2" fmla="*/ 2193669 h 2193669"/>
                <a:gd name="connsiteX3" fmla="*/ 0 w 3656115"/>
                <a:gd name="connsiteY3" fmla="*/ 2193669 h 2193669"/>
                <a:gd name="connsiteX4" fmla="*/ 0 w 3656115"/>
                <a:gd name="connsiteY4" fmla="*/ 0 h 219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115" h="2193669">
                  <a:moveTo>
                    <a:pt x="0" y="0"/>
                  </a:moveTo>
                  <a:lnTo>
                    <a:pt x="3656115" y="0"/>
                  </a:lnTo>
                  <a:lnTo>
                    <a:pt x="3656115" y="2193669"/>
                  </a:lnTo>
                  <a:lnTo>
                    <a:pt x="0" y="2193669"/>
                  </a:lnTo>
                  <a:lnTo>
                    <a:pt x="0" y="0"/>
                  </a:lnTo>
                  <a:close/>
                </a:path>
              </a:pathLst>
            </a:custGeom>
          </p:spPr>
          <p:style>
            <a:lnRef idx="0">
              <a:schemeClr val="dk2">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2">
                <a:hueOff val="0"/>
                <a:satOff val="0"/>
                <a:lumOff val="0"/>
                <a:alphaOff val="0"/>
              </a:schemeClr>
            </a:fontRef>
          </p:style>
          <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a:solidFill>
                    <a:schemeClr val="tx1"/>
                  </a:solidFill>
                  <a:latin typeface="Times New Roman" panose="02020603050405020304" charset="0"/>
                  <a:cs typeface="Times New Roman" panose="02020603050405020304" charset="0"/>
                </a:rPr>
                <a:t>Manufacturing procurement</a:t>
              </a:r>
              <a:endParaRPr lang="en-US" sz="2200" b="1" kern="1200" dirty="0">
                <a:solidFill>
                  <a:schemeClr val="tx1"/>
                </a:solidFill>
                <a:latin typeface="Times New Roman" panose="02020603050405020304" charset="0"/>
                <a:cs typeface="Times New Roman" panose="02020603050405020304" charset="0"/>
              </a:endParaRPr>
            </a:p>
            <a:p>
              <a:pPr marL="0" lvl="0" indent="0" algn="ctr" defTabSz="977900">
                <a:lnSpc>
                  <a:spcPct val="90000"/>
                </a:lnSpc>
                <a:spcBef>
                  <a:spcPct val="0"/>
                </a:spcBef>
                <a:spcAft>
                  <a:spcPct val="35000"/>
                </a:spcAft>
                <a:buNone/>
              </a:pPr>
              <a:r>
                <a:rPr lang="en-US" sz="2000" kern="1200" dirty="0">
                  <a:solidFill>
                    <a:schemeClr val="tx1"/>
                  </a:solidFill>
                  <a:latin typeface="Times New Roman" panose="02020603050405020304" charset="0"/>
                  <a:cs typeface="Times New Roman" panose="02020603050405020304" charset="0"/>
                </a:rPr>
                <a:t>Manufacturers need to compare equipment, components, specifications, suppliers, and prices before purchasing.</a:t>
              </a:r>
              <a:endParaRPr lang="en-US" sz="2000" kern="1200" dirty="0">
                <a:solidFill>
                  <a:schemeClr val="tx1"/>
                </a:solidFill>
                <a:latin typeface="Times New Roman" panose="02020603050405020304" charset="0"/>
                <a:cs typeface="Times New Roman" panose="02020603050405020304" charset="0"/>
              </a:endParaRPr>
            </a:p>
          </p:txBody>
        </p:sp>
        <p:sp>
          <p:nvSpPr>
            <p:cNvPr id="8" name="Freeform: Shape 7"/>
            <p:cNvSpPr/>
            <p:nvPr/>
          </p:nvSpPr>
          <p:spPr>
            <a:xfrm>
              <a:off x="8256178" y="3947438"/>
              <a:ext cx="3656115" cy="2193669"/>
            </a:xfrm>
            <a:custGeom>
              <a:avLst/>
              <a:gdLst>
                <a:gd name="connsiteX0" fmla="*/ 0 w 3656115"/>
                <a:gd name="connsiteY0" fmla="*/ 0 h 2193669"/>
                <a:gd name="connsiteX1" fmla="*/ 3656115 w 3656115"/>
                <a:gd name="connsiteY1" fmla="*/ 0 h 2193669"/>
                <a:gd name="connsiteX2" fmla="*/ 3656115 w 3656115"/>
                <a:gd name="connsiteY2" fmla="*/ 2193669 h 2193669"/>
                <a:gd name="connsiteX3" fmla="*/ 0 w 3656115"/>
                <a:gd name="connsiteY3" fmla="*/ 2193669 h 2193669"/>
                <a:gd name="connsiteX4" fmla="*/ 0 w 3656115"/>
                <a:gd name="connsiteY4" fmla="*/ 0 h 219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115" h="2193669">
                  <a:moveTo>
                    <a:pt x="0" y="0"/>
                  </a:moveTo>
                  <a:lnTo>
                    <a:pt x="3656115" y="0"/>
                  </a:lnTo>
                  <a:lnTo>
                    <a:pt x="3656115" y="2193669"/>
                  </a:lnTo>
                  <a:lnTo>
                    <a:pt x="0" y="2193669"/>
                  </a:lnTo>
                  <a:lnTo>
                    <a:pt x="0" y="0"/>
                  </a:lnTo>
                  <a:close/>
                </a:path>
              </a:pathLst>
            </a:custGeom>
          </p:spPr>
          <p:style>
            <a:lnRef idx="0">
              <a:schemeClr val="dk2">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2">
                <a:hueOff val="0"/>
                <a:satOff val="0"/>
                <a:lumOff val="0"/>
                <a:alphaOff val="0"/>
              </a:schemeClr>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chemeClr val="tx1"/>
                  </a:solidFill>
                  <a:latin typeface="Times New Roman" panose="02020603050405020304" charset="0"/>
                  <a:cs typeface="Times New Roman" panose="02020603050405020304" charset="0"/>
                </a:rPr>
                <a:t>Wholesale/distribution</a:t>
              </a:r>
              <a:endParaRPr lang="en-US" sz="2300" b="1" kern="1200" dirty="0">
                <a:solidFill>
                  <a:schemeClr val="tx1"/>
                </a:solidFill>
                <a:latin typeface="Times New Roman" panose="02020603050405020304" charset="0"/>
                <a:cs typeface="Times New Roman" panose="02020603050405020304" charset="0"/>
              </a:endParaRPr>
            </a:p>
            <a:p>
              <a:pPr marL="0" lvl="0" indent="0" algn="ctr" defTabSz="1022350">
                <a:lnSpc>
                  <a:spcPct val="90000"/>
                </a:lnSpc>
                <a:spcBef>
                  <a:spcPct val="0"/>
                </a:spcBef>
                <a:spcAft>
                  <a:spcPct val="35000"/>
                </a:spcAft>
                <a:buNone/>
              </a:pPr>
              <a:r>
                <a:rPr lang="en-US" sz="2000" kern="1200" dirty="0">
                  <a:solidFill>
                    <a:schemeClr val="tx1"/>
                  </a:solidFill>
                  <a:latin typeface="Times New Roman" panose="02020603050405020304" charset="0"/>
                  <a:cs typeface="Times New Roman" panose="02020603050405020304" charset="0"/>
                </a:rPr>
                <a:t>Distributors can compare products from multiple vendors based on price, availability, specifications, and market conditions.</a:t>
              </a:r>
              <a:endParaRPr lang="en-US" sz="2000" kern="1200" dirty="0">
                <a:solidFill>
                  <a:schemeClr val="tx1"/>
                </a:solidFill>
                <a:latin typeface="Times New Roman" panose="02020603050405020304" charset="0"/>
                <a:cs typeface="Times New Roman" panose="02020603050405020304" charset="0"/>
              </a:endParaRPr>
            </a:p>
          </p:txBody>
        </p:sp>
        <p:sp>
          <p:nvSpPr>
            <p:cNvPr id="9" name="Freeform: Shape 8"/>
            <p:cNvSpPr/>
            <p:nvPr/>
          </p:nvSpPr>
          <p:spPr>
            <a:xfrm>
              <a:off x="4267942" y="4006921"/>
              <a:ext cx="3656115" cy="2193669"/>
            </a:xfrm>
            <a:custGeom>
              <a:avLst/>
              <a:gdLst>
                <a:gd name="connsiteX0" fmla="*/ 0 w 3656115"/>
                <a:gd name="connsiteY0" fmla="*/ 0 h 2193669"/>
                <a:gd name="connsiteX1" fmla="*/ 3656115 w 3656115"/>
                <a:gd name="connsiteY1" fmla="*/ 0 h 2193669"/>
                <a:gd name="connsiteX2" fmla="*/ 3656115 w 3656115"/>
                <a:gd name="connsiteY2" fmla="*/ 2193669 h 2193669"/>
                <a:gd name="connsiteX3" fmla="*/ 0 w 3656115"/>
                <a:gd name="connsiteY3" fmla="*/ 2193669 h 2193669"/>
                <a:gd name="connsiteX4" fmla="*/ 0 w 3656115"/>
                <a:gd name="connsiteY4" fmla="*/ 0 h 219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115" h="2193669">
                  <a:moveTo>
                    <a:pt x="0" y="0"/>
                  </a:moveTo>
                  <a:lnTo>
                    <a:pt x="3656115" y="0"/>
                  </a:lnTo>
                  <a:lnTo>
                    <a:pt x="3656115" y="2193669"/>
                  </a:lnTo>
                  <a:lnTo>
                    <a:pt x="0" y="2193669"/>
                  </a:lnTo>
                  <a:lnTo>
                    <a:pt x="0" y="0"/>
                  </a:lnTo>
                  <a:close/>
                </a:path>
              </a:pathLst>
            </a:custGeom>
          </p:spPr>
          <p:style>
            <a:lnRef idx="0">
              <a:schemeClr val="dk2">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2">
                <a:hueOff val="0"/>
                <a:satOff val="0"/>
                <a:lumOff val="0"/>
                <a:alphaOff val="0"/>
              </a:schemeClr>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chemeClr val="tx1"/>
                  </a:solidFill>
                  <a:latin typeface="Times New Roman" panose="02020603050405020304" charset="0"/>
                  <a:cs typeface="Times New Roman" panose="02020603050405020304" charset="0"/>
                </a:rPr>
                <a:t>Industrial supply chain</a:t>
              </a:r>
              <a:endParaRPr lang="en-US" sz="2300" b="1" kern="1200" dirty="0">
                <a:solidFill>
                  <a:schemeClr val="tx1"/>
                </a:solidFill>
                <a:latin typeface="Times New Roman" panose="02020603050405020304" charset="0"/>
                <a:cs typeface="Times New Roman" panose="02020603050405020304" charset="0"/>
              </a:endParaRPr>
            </a:p>
            <a:p>
              <a:pPr marL="0" lvl="0" indent="0" algn="ctr" defTabSz="1022350">
                <a:lnSpc>
                  <a:spcPct val="90000"/>
                </a:lnSpc>
                <a:spcBef>
                  <a:spcPct val="0"/>
                </a:spcBef>
                <a:spcAft>
                  <a:spcPct val="35000"/>
                </a:spcAft>
                <a:buNone/>
              </a:pPr>
              <a:r>
                <a:rPr lang="en-US" sz="2000" kern="1200" dirty="0">
                  <a:solidFill>
                    <a:schemeClr val="tx1"/>
                  </a:solidFill>
                  <a:latin typeface="Times New Roman" panose="02020603050405020304" charset="0"/>
                  <a:cs typeface="Times New Roman" panose="02020603050405020304" charset="0"/>
                </a:rPr>
                <a:t>Helps compare suppliers, product availability, pricing, and regional differences to improve supply-chain decisions.</a:t>
              </a:r>
              <a:endParaRPr lang="en-US" sz="2000" kern="1200" dirty="0">
                <a:solidFill>
                  <a:schemeClr val="tx1"/>
                </a:solidFill>
                <a:latin typeface="Times New Roman" panose="02020603050405020304" charset="0"/>
                <a:cs typeface="Times New Roman" panose="02020603050405020304" charset="0"/>
              </a:endParaRPr>
            </a:p>
          </p:txBody>
        </p:sp>
      </p:grpSp>
      <p:sp>
        <p:nvSpPr>
          <p:cNvPr id="11" name="Freeform: Shape 10"/>
          <p:cNvSpPr/>
          <p:nvPr/>
        </p:nvSpPr>
        <p:spPr>
          <a:xfrm>
            <a:off x="279707" y="4006921"/>
            <a:ext cx="3656115" cy="2193669"/>
          </a:xfrm>
          <a:custGeom>
            <a:avLst/>
            <a:gdLst>
              <a:gd name="connsiteX0" fmla="*/ 0 w 3656115"/>
              <a:gd name="connsiteY0" fmla="*/ 0 h 2193669"/>
              <a:gd name="connsiteX1" fmla="*/ 3656115 w 3656115"/>
              <a:gd name="connsiteY1" fmla="*/ 0 h 2193669"/>
              <a:gd name="connsiteX2" fmla="*/ 3656115 w 3656115"/>
              <a:gd name="connsiteY2" fmla="*/ 2193669 h 2193669"/>
              <a:gd name="connsiteX3" fmla="*/ 0 w 3656115"/>
              <a:gd name="connsiteY3" fmla="*/ 2193669 h 2193669"/>
              <a:gd name="connsiteX4" fmla="*/ 0 w 3656115"/>
              <a:gd name="connsiteY4" fmla="*/ 0 h 219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115" h="2193669">
                <a:moveTo>
                  <a:pt x="0" y="0"/>
                </a:moveTo>
                <a:lnTo>
                  <a:pt x="3656115" y="0"/>
                </a:lnTo>
                <a:lnTo>
                  <a:pt x="3656115" y="2193669"/>
                </a:lnTo>
                <a:lnTo>
                  <a:pt x="0" y="2193669"/>
                </a:lnTo>
                <a:lnTo>
                  <a:pt x="0" y="0"/>
                </a:lnTo>
                <a:close/>
              </a:path>
            </a:pathLst>
          </a:custGeom>
        </p:spPr>
        <p:style>
          <a:lnRef idx="0">
            <a:schemeClr val="dk2">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2">
              <a:hueOff val="0"/>
              <a:satOff val="0"/>
              <a:lumOff val="0"/>
              <a:alphaOff val="0"/>
            </a:schemeClr>
          </a:fontRef>
        </p:style>
        <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endParaRPr lang="en-IN" sz="2400" dirty="0"/>
          </a:p>
          <a:p>
            <a:pPr lvl="0" algn="ctr" defTabSz="977900">
              <a:lnSpc>
                <a:spcPct val="90000"/>
              </a:lnSpc>
              <a:spcBef>
                <a:spcPct val="0"/>
              </a:spcBef>
              <a:spcAft>
                <a:spcPct val="35000"/>
              </a:spcAft>
            </a:pPr>
            <a:r>
              <a:rPr lang="en-IN" sz="2200" b="1" dirty="0">
                <a:solidFill>
                  <a:schemeClr val="tx1"/>
                </a:solidFill>
                <a:latin typeface="Times New Roman" panose="02020603050405020304" charset="0"/>
                <a:cs typeface="Times New Roman" panose="02020603050405020304" charset="0"/>
              </a:rPr>
              <a:t>IT asset management</a:t>
            </a:r>
            <a:endParaRPr lang="en-IN" sz="2200" b="1" dirty="0">
              <a:solidFill>
                <a:schemeClr val="tx1"/>
              </a:solidFill>
              <a:latin typeface="Times New Roman" panose="02020603050405020304" charset="0"/>
              <a:cs typeface="Times New Roman" panose="02020603050405020304" charset="0"/>
            </a:endParaRPr>
          </a:p>
          <a:p>
            <a:pPr lvl="0" algn="ctr" defTabSz="977900">
              <a:lnSpc>
                <a:spcPct val="90000"/>
              </a:lnSpc>
              <a:spcBef>
                <a:spcPct val="0"/>
              </a:spcBef>
              <a:spcAft>
                <a:spcPct val="35000"/>
              </a:spcAft>
            </a:pPr>
            <a:r>
              <a:rPr lang="en-US" sz="2000" dirty="0">
                <a:solidFill>
                  <a:schemeClr val="tx1"/>
                </a:solidFill>
                <a:latin typeface="Times New Roman" panose="02020603050405020304" charset="0"/>
                <a:cs typeface="Times New Roman" panose="02020603050405020304" charset="0"/>
              </a:rPr>
              <a:t>Compares IT assets using specifications, pricing, availability, and vendor data to support efficient procurement and replacement decisions</a:t>
            </a:r>
            <a:r>
              <a:rPr lang="en-US" sz="2400" dirty="0">
                <a:solidFill>
                  <a:schemeClr val="tx1"/>
                </a:solidFill>
                <a:latin typeface="Times New Roman" panose="02020603050405020304" charset="0"/>
                <a:cs typeface="Times New Roman" panose="02020603050405020304" charset="0"/>
              </a:rPr>
              <a:t>.</a:t>
            </a:r>
            <a:endParaRPr lang="en-US" sz="2400" dirty="0">
              <a:solidFill>
                <a:schemeClr val="tx1"/>
              </a:solidFill>
              <a:latin typeface="Times New Roman" panose="02020603050405020304" charset="0"/>
              <a:cs typeface="Times New Roman" panose="02020603050405020304" charset="0"/>
            </a:endParaRPr>
          </a:p>
          <a:p>
            <a:pPr marL="0" lvl="0" indent="0" algn="ctr" defTabSz="977900">
              <a:lnSpc>
                <a:spcPct val="90000"/>
              </a:lnSpc>
              <a:spcBef>
                <a:spcPct val="0"/>
              </a:spcBef>
              <a:spcAft>
                <a:spcPct val="35000"/>
              </a:spcAft>
              <a:buNone/>
            </a:pPr>
            <a:endParaRPr lang="en-US" sz="2400" b="1" kern="1200" dirty="0">
              <a:solidFill>
                <a:schemeClr val="tx1"/>
              </a:solidFill>
              <a:latin typeface="Times New Roman" panose="02020603050405020304" charset="0"/>
              <a:cs typeface="Times New Roman" panose="02020603050405020304" charset="0"/>
            </a:endParaRPr>
          </a:p>
        </p:txBody>
      </p:sp>
      <p:sp>
        <p:nvSpPr>
          <p:cNvPr id="1048577" name="Rectangles 4"/>
          <p:cNvSpPr/>
          <p:nvPr/>
        </p:nvSpPr>
        <p:spPr>
          <a:xfrm rot="5400000">
            <a:off x="5908488" y="562078"/>
            <a:ext cx="383915"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80" name="Text 13"/>
          <p:cNvSpPr/>
          <p:nvPr/>
        </p:nvSpPr>
        <p:spPr>
          <a:xfrm>
            <a:off x="205740" y="6694805"/>
            <a:ext cx="8735695" cy="274320"/>
          </a:xfrm>
          <a:prstGeom prst="rect">
            <a:avLst/>
          </a:prstGeom>
          <a:noFill/>
        </p:spPr>
        <p:txBody>
          <a:bodyPr wrap="square" rtlCol="0" anchor="ctr"/>
          <a:lstStyle/>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sym typeface="+mn-ea"/>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p:txBody>
      </p:sp>
      <p:sp>
        <p:nvSpPr>
          <p:cNvPr id="2" name="Rectangles 7"/>
          <p:cNvSpPr/>
          <p:nvPr/>
        </p:nvSpPr>
        <p:spPr>
          <a:xfrm rot="10800000">
            <a:off x="0" y="2540"/>
            <a:ext cx="12192000" cy="36830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2097158" name="Image 0" descr="logo_full.png"/>
          <p:cNvPicPr>
            <a:picLocks noChangeAspect="1"/>
          </p:cNvPicPr>
          <p:nvPr/>
        </p:nvPicPr>
        <p:blipFill>
          <a:blip r:embed="rId1"/>
          <a:stretch>
            <a:fillRect/>
          </a:stretch>
        </p:blipFill>
        <p:spPr>
          <a:xfrm>
            <a:off x="10357815" y="102235"/>
            <a:ext cx="1554480" cy="229514"/>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8"/>
          <p:cNvSpPr/>
          <p:nvPr>
            <p:custDataLst>
              <p:tags r:id="rId1"/>
            </p:custDataLst>
          </p:nvPr>
        </p:nvSpPr>
        <p:spPr>
          <a:xfrm>
            <a:off x="6938278" y="1025671"/>
            <a:ext cx="4306570" cy="1169670"/>
          </a:xfrm>
          <a:custGeom>
            <a:avLst/>
            <a:gdLst>
              <a:gd name="connsiteX0" fmla="*/ 2665341 w 3243892"/>
              <a:gd name="connsiteY0" fmla="*/ -110 h 1157385"/>
              <a:gd name="connsiteX1" fmla="*/ 713178 w 3243892"/>
              <a:gd name="connsiteY1" fmla="*/ -110 h 1157385"/>
              <a:gd name="connsiteX2" fmla="*/ 151376 w 3243892"/>
              <a:gd name="connsiteY2" fmla="*/ 439632 h 1157385"/>
              <a:gd name="connsiteX3" fmla="*/ -37 w 3243892"/>
              <a:gd name="connsiteY3" fmla="*/ 591046 h 1157385"/>
              <a:gd name="connsiteX4" fmla="*/ 160947 w 3243892"/>
              <a:gd name="connsiteY4" fmla="*/ 752030 h 1157385"/>
              <a:gd name="connsiteX5" fmla="*/ 713178 w 3243892"/>
              <a:gd name="connsiteY5" fmla="*/ 1157275 h 1157385"/>
              <a:gd name="connsiteX6" fmla="*/ 2665341 w 3243892"/>
              <a:gd name="connsiteY6" fmla="*/ 1157275 h 1157385"/>
              <a:gd name="connsiteX7" fmla="*/ 3243855 w 3243892"/>
              <a:gd name="connsiteY7" fmla="*/ 578761 h 1157385"/>
              <a:gd name="connsiteX8" fmla="*/ 3243855 w 3243892"/>
              <a:gd name="connsiteY8" fmla="*/ 578761 h 1157385"/>
              <a:gd name="connsiteX9" fmla="*/ 2665699 w 3243892"/>
              <a:gd name="connsiteY9" fmla="*/ -110 h 1157385"/>
              <a:gd name="connsiteX10" fmla="*/ 2665341 w 3243892"/>
              <a:gd name="connsiteY10" fmla="*/ -110 h 115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43892" h="1157385">
                <a:moveTo>
                  <a:pt x="2665341" y="-110"/>
                </a:moveTo>
                <a:lnTo>
                  <a:pt x="713178" y="-110"/>
                </a:lnTo>
                <a:cubicBezTo>
                  <a:pt x="447133" y="-60"/>
                  <a:pt x="215327" y="181358"/>
                  <a:pt x="151376" y="439632"/>
                </a:cubicBezTo>
                <a:lnTo>
                  <a:pt x="-37" y="591046"/>
                </a:lnTo>
                <a:lnTo>
                  <a:pt x="160947" y="752030"/>
                </a:lnTo>
                <a:cubicBezTo>
                  <a:pt x="236797" y="993199"/>
                  <a:pt x="460346" y="1157261"/>
                  <a:pt x="713178" y="1157275"/>
                </a:cubicBezTo>
                <a:lnTo>
                  <a:pt x="2665341" y="1157275"/>
                </a:lnTo>
                <a:cubicBezTo>
                  <a:pt x="2984881" y="1157275"/>
                  <a:pt x="3243855" y="898265"/>
                  <a:pt x="3243855" y="578761"/>
                </a:cubicBezTo>
                <a:lnTo>
                  <a:pt x="3243855" y="578761"/>
                </a:lnTo>
                <a:cubicBezTo>
                  <a:pt x="3244070" y="259257"/>
                  <a:pt x="2985239" y="90"/>
                  <a:pt x="2665699" y="-110"/>
                </a:cubicBezTo>
                <a:cubicBezTo>
                  <a:pt x="2665556" y="-110"/>
                  <a:pt x="2665484" y="-110"/>
                  <a:pt x="2665341" y="-110"/>
                </a:cubicBezTo>
                <a:close/>
              </a:path>
            </a:pathLst>
          </a:custGeom>
          <a:solidFill>
            <a:schemeClr val="accent3"/>
          </a:solidFill>
          <a:ln w="7139" cap="flat">
            <a:noFill/>
            <a:prstDash val="solid"/>
            <a:miter/>
          </a:ln>
        </p:spPr>
        <p:txBody>
          <a:bodyPr rtlCol="0" anchor="ctr"/>
          <a:lstStyle/>
          <a:p>
            <a:r>
              <a:rPr lang="en-US" altLang="en-US" sz="1600">
                <a:latin typeface="Times New Roman" panose="02020603050405020304" charset="0"/>
                <a:cs typeface="Times New Roman" panose="02020603050405020304" charset="0"/>
              </a:rPr>
              <a:t>  </a:t>
            </a:r>
            <a:endParaRPr lang="en-US" altLang="en-US">
              <a:latin typeface="Times New Roman" panose="02020603050405020304" charset="0"/>
              <a:cs typeface="Times New Roman" panose="02020603050405020304" charset="0"/>
            </a:endParaRPr>
          </a:p>
        </p:txBody>
      </p:sp>
      <p:sp>
        <p:nvSpPr>
          <p:cNvPr id="1048576" name="Rectangles 7"/>
          <p:cNvSpPr/>
          <p:nvPr/>
        </p:nvSpPr>
        <p:spPr>
          <a:xfrm rot="10800000">
            <a:off x="0" y="6503670"/>
            <a:ext cx="12192000" cy="35433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5" name="Image 0" descr="logo_full.png"/>
          <p:cNvPicPr>
            <a:picLocks noChangeAspect="1"/>
          </p:cNvPicPr>
          <p:nvPr/>
        </p:nvPicPr>
        <p:blipFill>
          <a:blip r:embed="rId2"/>
          <a:stretch>
            <a:fillRect/>
          </a:stretch>
        </p:blipFill>
        <p:spPr>
          <a:xfrm>
            <a:off x="10357815" y="331470"/>
            <a:ext cx="1554480" cy="229514"/>
          </a:xfrm>
          <a:prstGeom prst="rect">
            <a:avLst/>
          </a:prstGeom>
        </p:spPr>
      </p:pic>
      <p:sp>
        <p:nvSpPr>
          <p:cNvPr id="1048615" name="Text 13"/>
          <p:cNvSpPr/>
          <p:nvPr/>
        </p:nvSpPr>
        <p:spPr>
          <a:xfrm>
            <a:off x="212725" y="6526965"/>
            <a:ext cx="7315200" cy="274320"/>
          </a:xfrm>
          <a:prstGeom prst="rect">
            <a:avLst/>
          </a:prstGeom>
          <a:noFill/>
        </p:spPr>
        <p:txBody>
          <a:bodyPr wrap="square" rtlCol="0" anchor="ctr"/>
          <a:lstStyle/>
          <a:p>
            <a:pPr marL="0" indent="0">
              <a:buNone/>
            </a:pPr>
            <a:r>
              <a:rPr lang="en-US" sz="1200" b="1" dirty="0">
                <a:solidFill>
                  <a:schemeClr val="bg1"/>
                </a:solidFill>
                <a:latin typeface="Times New Roman" panose="02020603050405020304" charset="0"/>
                <a:ea typeface="Calibri" panose="020F0502020204030204" pitchFamily="34" charset="-122"/>
                <a:cs typeface="Times New Roman" panose="02020603050405020304" charset="0"/>
              </a:rPr>
              <a:t>Product Comparison Analyzer  •  iLink Digital Hackathon 2026</a:t>
            </a:r>
            <a:endParaRPr lang="en-US" sz="1200" b="1" dirty="0">
              <a:solidFill>
                <a:schemeClr val="bg1"/>
              </a:solidFill>
              <a:latin typeface="Times New Roman" panose="02020603050405020304" charset="0"/>
              <a:ea typeface="Calibri" panose="020F0502020204030204" pitchFamily="34" charset="-122"/>
              <a:cs typeface="Times New Roman" panose="02020603050405020304" charset="0"/>
            </a:endParaRPr>
          </a:p>
        </p:txBody>
      </p:sp>
      <p:sp>
        <p:nvSpPr>
          <p:cNvPr id="7" name="Freeform: Shape 7"/>
          <p:cNvSpPr/>
          <p:nvPr>
            <p:custDataLst>
              <p:tags r:id="rId3"/>
            </p:custDataLst>
          </p:nvPr>
        </p:nvSpPr>
        <p:spPr>
          <a:xfrm>
            <a:off x="8106870" y="2392864"/>
            <a:ext cx="3820701" cy="1106805"/>
          </a:xfrm>
          <a:custGeom>
            <a:avLst/>
            <a:gdLst>
              <a:gd name="connsiteX0" fmla="*/ 2665555 w 3243820"/>
              <a:gd name="connsiteY0" fmla="*/ -110 h 1157385"/>
              <a:gd name="connsiteX1" fmla="*/ 713106 w 3243820"/>
              <a:gd name="connsiteY1" fmla="*/ -110 h 1157385"/>
              <a:gd name="connsiteX2" fmla="*/ 151376 w 3243820"/>
              <a:gd name="connsiteY2" fmla="*/ 439561 h 1157385"/>
              <a:gd name="connsiteX3" fmla="*/ -37 w 3243820"/>
              <a:gd name="connsiteY3" fmla="*/ 591046 h 1157385"/>
              <a:gd name="connsiteX4" fmla="*/ 161232 w 3243820"/>
              <a:gd name="connsiteY4" fmla="*/ 752172 h 1157385"/>
              <a:gd name="connsiteX5" fmla="*/ 713106 w 3243820"/>
              <a:gd name="connsiteY5" fmla="*/ 1157275 h 1157385"/>
              <a:gd name="connsiteX6" fmla="*/ 2665269 w 3243820"/>
              <a:gd name="connsiteY6" fmla="*/ 1157275 h 1157385"/>
              <a:gd name="connsiteX7" fmla="*/ 3243784 w 3243820"/>
              <a:gd name="connsiteY7" fmla="*/ 578761 h 1157385"/>
              <a:gd name="connsiteX8" fmla="*/ 3243784 w 3243820"/>
              <a:gd name="connsiteY8" fmla="*/ 578761 h 1157385"/>
              <a:gd name="connsiteX9" fmla="*/ 2665627 w 3243820"/>
              <a:gd name="connsiteY9" fmla="*/ -110 h 1157385"/>
              <a:gd name="connsiteX10" fmla="*/ 2665555 w 3243820"/>
              <a:gd name="connsiteY10" fmla="*/ -110 h 115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43820" h="1157385">
                <a:moveTo>
                  <a:pt x="2665555" y="-110"/>
                </a:moveTo>
                <a:lnTo>
                  <a:pt x="713106" y="-110"/>
                </a:lnTo>
                <a:cubicBezTo>
                  <a:pt x="447061" y="-167"/>
                  <a:pt x="215227" y="181265"/>
                  <a:pt x="151376" y="439561"/>
                </a:cubicBezTo>
                <a:lnTo>
                  <a:pt x="-37" y="591046"/>
                </a:lnTo>
                <a:lnTo>
                  <a:pt x="161232" y="752172"/>
                </a:lnTo>
                <a:cubicBezTo>
                  <a:pt x="237010" y="993241"/>
                  <a:pt x="460417" y="1157261"/>
                  <a:pt x="713106" y="1157275"/>
                </a:cubicBezTo>
                <a:lnTo>
                  <a:pt x="2665269" y="1157275"/>
                </a:lnTo>
                <a:cubicBezTo>
                  <a:pt x="2984809" y="1157275"/>
                  <a:pt x="3243784" y="898265"/>
                  <a:pt x="3243784" y="578761"/>
                </a:cubicBezTo>
                <a:lnTo>
                  <a:pt x="3243784" y="578761"/>
                </a:lnTo>
                <a:cubicBezTo>
                  <a:pt x="3243998" y="259257"/>
                  <a:pt x="2985095" y="90"/>
                  <a:pt x="2665627" y="-110"/>
                </a:cubicBezTo>
                <a:cubicBezTo>
                  <a:pt x="2665627" y="-110"/>
                  <a:pt x="2665555" y="-110"/>
                  <a:pt x="2665555" y="-110"/>
                </a:cubicBezTo>
                <a:close/>
              </a:path>
            </a:pathLst>
          </a:custGeom>
          <a:solidFill>
            <a:schemeClr val="accent2"/>
          </a:solidFill>
          <a:ln w="7139" cap="flat">
            <a:noFill/>
            <a:prstDash val="solid"/>
            <a:miter/>
          </a:ln>
        </p:spPr>
        <p:txBody>
          <a:bodyPr rtlCol="0" anchor="ctr"/>
          <a:lstStyle/>
          <a:p>
            <a:r>
              <a:rPr lang="en-US" altLang="en-US" dirty="0">
                <a:latin typeface="Times New Roman" panose="02020603050405020304" charset="0"/>
                <a:cs typeface="Times New Roman" panose="02020603050405020304" charset="0"/>
              </a:rPr>
              <a:t>   </a:t>
            </a:r>
            <a:r>
              <a:rPr lang="en-US" altLang="en-US" b="1" dirty="0">
                <a:latin typeface="Times New Roman" panose="02020603050405020304" charset="0"/>
                <a:cs typeface="Times New Roman" panose="02020603050405020304" charset="0"/>
              </a:rPr>
              <a:t>  Automated Report Generation</a:t>
            </a:r>
            <a:endParaRPr lang="en-US" altLang="en-US"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   Creates structured comparison report </a:t>
            </a:r>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      with key insights automatically.</a:t>
            </a:r>
            <a:endParaRPr lang="en-IN" sz="1600" dirty="0">
              <a:latin typeface="Times New Roman" panose="02020603050405020304" charset="0"/>
              <a:cs typeface="Times New Roman" panose="02020603050405020304" charset="0"/>
            </a:endParaRPr>
          </a:p>
        </p:txBody>
      </p:sp>
      <p:sp>
        <p:nvSpPr>
          <p:cNvPr id="33" name="Freeform: Shape 9"/>
          <p:cNvSpPr/>
          <p:nvPr>
            <p:custDataLst>
              <p:tags r:id="rId4"/>
            </p:custDataLst>
          </p:nvPr>
        </p:nvSpPr>
        <p:spPr>
          <a:xfrm>
            <a:off x="1385133" y="1026654"/>
            <a:ext cx="3783330" cy="1136015"/>
          </a:xfrm>
          <a:custGeom>
            <a:avLst/>
            <a:gdLst>
              <a:gd name="connsiteX0" fmla="*/ 3243855 w 3243892"/>
              <a:gd name="connsiteY0" fmla="*/ 566120 h 1157028"/>
              <a:gd name="connsiteX1" fmla="*/ 3082872 w 3243892"/>
              <a:gd name="connsiteY1" fmla="*/ 405135 h 1157028"/>
              <a:gd name="connsiteX2" fmla="*/ 2530641 w 3243892"/>
              <a:gd name="connsiteY2" fmla="*/ -110 h 1157028"/>
              <a:gd name="connsiteX3" fmla="*/ 578477 w 3243892"/>
              <a:gd name="connsiteY3" fmla="*/ -110 h 1157028"/>
              <a:gd name="connsiteX4" fmla="*/ -37 w 3243892"/>
              <a:gd name="connsiteY4" fmla="*/ 578404 h 1157028"/>
              <a:gd name="connsiteX5" fmla="*/ -37 w 3243892"/>
              <a:gd name="connsiteY5" fmla="*/ 578404 h 1157028"/>
              <a:gd name="connsiteX6" fmla="*/ 578477 w 3243892"/>
              <a:gd name="connsiteY6" fmla="*/ 1156918 h 1157028"/>
              <a:gd name="connsiteX7" fmla="*/ 2530641 w 3243892"/>
              <a:gd name="connsiteY7" fmla="*/ 1156918 h 1157028"/>
              <a:gd name="connsiteX8" fmla="*/ 3092442 w 3243892"/>
              <a:gd name="connsiteY8" fmla="*/ 717390 h 115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892" h="1157028">
                <a:moveTo>
                  <a:pt x="3243855" y="566120"/>
                </a:moveTo>
                <a:lnTo>
                  <a:pt x="3082872" y="405135"/>
                </a:lnTo>
                <a:cubicBezTo>
                  <a:pt x="3007043" y="163952"/>
                  <a:pt x="2783465" y="-117"/>
                  <a:pt x="2530641" y="-110"/>
                </a:cubicBezTo>
                <a:lnTo>
                  <a:pt x="578477" y="-110"/>
                </a:lnTo>
                <a:cubicBezTo>
                  <a:pt x="258973" y="-110"/>
                  <a:pt x="-37" y="258900"/>
                  <a:pt x="-37" y="578404"/>
                </a:cubicBezTo>
                <a:lnTo>
                  <a:pt x="-37" y="578404"/>
                </a:lnTo>
                <a:cubicBezTo>
                  <a:pt x="-37" y="897908"/>
                  <a:pt x="258973" y="1156918"/>
                  <a:pt x="578477" y="1156918"/>
                </a:cubicBezTo>
                <a:lnTo>
                  <a:pt x="2530641" y="1156918"/>
                </a:lnTo>
                <a:cubicBezTo>
                  <a:pt x="2796650" y="1156897"/>
                  <a:pt x="3028405" y="975579"/>
                  <a:pt x="3092442" y="717390"/>
                </a:cubicBezTo>
                <a:close/>
              </a:path>
            </a:pathLst>
          </a:custGeom>
          <a:solidFill>
            <a:schemeClr val="accent1"/>
          </a:solidFill>
          <a:ln w="7139" cap="flat">
            <a:noFill/>
            <a:prstDash val="solid"/>
            <a:miter/>
          </a:ln>
        </p:spPr>
        <p:txBody>
          <a:bodyPr rtlCol="0" anchor="ctr"/>
          <a:lstStyle/>
          <a:p>
            <a:r>
              <a:rPr lang="en-US" altLang="en-US" sz="1600" dirty="0">
                <a:latin typeface="Times New Roman" panose="02020603050405020304" charset="0"/>
                <a:cs typeface="Times New Roman" panose="02020603050405020304" charset="0"/>
                <a:sym typeface="+mn-ea"/>
              </a:rPr>
              <a:t>  </a:t>
            </a:r>
            <a:r>
              <a:rPr lang="en-US" altLang="en-US" sz="1600" b="1" dirty="0">
                <a:latin typeface="Times New Roman" panose="02020603050405020304" charset="0"/>
                <a:cs typeface="Times New Roman" panose="02020603050405020304" charset="0"/>
                <a:sym typeface="+mn-ea"/>
              </a:rPr>
              <a:t>Multi-Country Analysis Compares   </a:t>
            </a:r>
            <a:br>
              <a:rPr lang="en-US" altLang="en-US" sz="1600" dirty="0">
                <a:latin typeface="Times New Roman" panose="02020603050405020304" charset="0"/>
                <a:cs typeface="Times New Roman" panose="02020603050405020304" charset="0"/>
                <a:sym typeface="+mn-ea"/>
              </a:rPr>
            </a:br>
            <a:r>
              <a:rPr lang="en-US" altLang="en-US" sz="1600" dirty="0">
                <a:latin typeface="Times New Roman" panose="02020603050405020304" charset="0"/>
                <a:cs typeface="Times New Roman" panose="02020603050405020304" charset="0"/>
                <a:sym typeface="+mn-ea"/>
              </a:rPr>
              <a:t>   products across different countries </a:t>
            </a:r>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sym typeface="+mn-ea"/>
              </a:rPr>
              <a:t>      to identify regional differences.</a:t>
            </a:r>
            <a:endParaRPr lang="en-US" altLang="en-US" sz="1600" dirty="0">
              <a:latin typeface="Times New Roman" panose="02020603050405020304" charset="0"/>
              <a:cs typeface="Times New Roman" panose="02020603050405020304" charset="0"/>
              <a:sym typeface="+mn-ea"/>
            </a:endParaRPr>
          </a:p>
        </p:txBody>
      </p:sp>
      <p:sp>
        <p:nvSpPr>
          <p:cNvPr id="34" name="Freeform: Shape 10"/>
          <p:cNvSpPr/>
          <p:nvPr>
            <p:custDataLst>
              <p:tags r:id="rId5"/>
            </p:custDataLst>
          </p:nvPr>
        </p:nvSpPr>
        <p:spPr>
          <a:xfrm>
            <a:off x="973264" y="5125720"/>
            <a:ext cx="4121785" cy="1243965"/>
          </a:xfrm>
          <a:custGeom>
            <a:avLst/>
            <a:gdLst>
              <a:gd name="connsiteX0" fmla="*/ 3243855 w 3243892"/>
              <a:gd name="connsiteY0" fmla="*/ 566120 h 1157028"/>
              <a:gd name="connsiteX1" fmla="*/ 3082872 w 3243892"/>
              <a:gd name="connsiteY1" fmla="*/ 405207 h 1157028"/>
              <a:gd name="connsiteX2" fmla="*/ 2530641 w 3243892"/>
              <a:gd name="connsiteY2" fmla="*/ -110 h 1157028"/>
              <a:gd name="connsiteX3" fmla="*/ 578477 w 3243892"/>
              <a:gd name="connsiteY3" fmla="*/ -110 h 1157028"/>
              <a:gd name="connsiteX4" fmla="*/ -37 w 3243892"/>
              <a:gd name="connsiteY4" fmla="*/ 578404 h 1157028"/>
              <a:gd name="connsiteX5" fmla="*/ -37 w 3243892"/>
              <a:gd name="connsiteY5" fmla="*/ 578404 h 1157028"/>
              <a:gd name="connsiteX6" fmla="*/ 578477 w 3243892"/>
              <a:gd name="connsiteY6" fmla="*/ 1156918 h 1157028"/>
              <a:gd name="connsiteX7" fmla="*/ 2530641 w 3243892"/>
              <a:gd name="connsiteY7" fmla="*/ 1156918 h 1157028"/>
              <a:gd name="connsiteX8" fmla="*/ 3092442 w 3243892"/>
              <a:gd name="connsiteY8" fmla="*/ 717247 h 115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892" h="1157028">
                <a:moveTo>
                  <a:pt x="3243855" y="566120"/>
                </a:moveTo>
                <a:lnTo>
                  <a:pt x="3082872" y="405207"/>
                </a:lnTo>
                <a:cubicBezTo>
                  <a:pt x="3007065" y="163995"/>
                  <a:pt x="2783480" y="-103"/>
                  <a:pt x="2530641" y="-110"/>
                </a:cubicBezTo>
                <a:lnTo>
                  <a:pt x="578477" y="-110"/>
                </a:lnTo>
                <a:cubicBezTo>
                  <a:pt x="258973" y="-110"/>
                  <a:pt x="-37" y="258900"/>
                  <a:pt x="-37" y="578404"/>
                </a:cubicBezTo>
                <a:lnTo>
                  <a:pt x="-37" y="578404"/>
                </a:lnTo>
                <a:cubicBezTo>
                  <a:pt x="-37" y="897908"/>
                  <a:pt x="258973" y="1156918"/>
                  <a:pt x="578477" y="1156918"/>
                </a:cubicBezTo>
                <a:lnTo>
                  <a:pt x="2530641" y="1156918"/>
                </a:lnTo>
                <a:cubicBezTo>
                  <a:pt x="2796693" y="1156882"/>
                  <a:pt x="3028462" y="975493"/>
                  <a:pt x="3092442" y="717247"/>
                </a:cubicBezTo>
                <a:close/>
              </a:path>
            </a:pathLst>
          </a:custGeom>
          <a:solidFill>
            <a:schemeClr val="accent2">
              <a:lumMod val="60000"/>
              <a:lumOff val="40000"/>
            </a:schemeClr>
          </a:solidFill>
          <a:ln w="7139" cap="flat">
            <a:noFill/>
            <a:prstDash val="solid"/>
            <a:miter/>
          </a:ln>
        </p:spPr>
        <p:txBody>
          <a:bodyPr rtlCol="0" anchor="ctr"/>
          <a:lstStyle/>
          <a:p>
            <a:r>
              <a:rPr lang="en-US" altLang="en-US" sz="1600" b="1" dirty="0">
                <a:latin typeface="Times New Roman" panose="02020603050405020304" charset="0"/>
                <a:cs typeface="Times New Roman" panose="02020603050405020304" charset="0"/>
                <a:sym typeface="+mn-ea"/>
              </a:rPr>
              <a:t>       Time &amp; Effort Saving</a:t>
            </a:r>
            <a:endParaRPr lang="en-US" altLang="en-US" sz="1600" b="1"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sym typeface="+mn-ea"/>
              </a:rPr>
              <a:t>     Reduces manual research improves    </a:t>
            </a:r>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sym typeface="+mn-ea"/>
              </a:rPr>
              <a:t>     efficiency and minimizes human errors.</a:t>
            </a:r>
            <a:endParaRPr lang="en-US" altLang="en-US" sz="1600" dirty="0">
              <a:latin typeface="Times New Roman" panose="02020603050405020304" charset="0"/>
              <a:cs typeface="Times New Roman" panose="02020603050405020304" charset="0"/>
            </a:endParaRPr>
          </a:p>
          <a:p>
            <a:endParaRPr lang="en-US" altLang="en-US" sz="1600" dirty="0">
              <a:latin typeface="Times New Roman" panose="02020603050405020304" charset="0"/>
              <a:cs typeface="Times New Roman" panose="02020603050405020304" charset="0"/>
            </a:endParaRPr>
          </a:p>
        </p:txBody>
      </p:sp>
      <p:sp>
        <p:nvSpPr>
          <p:cNvPr id="35" name="Freeform: Shape 11"/>
          <p:cNvSpPr/>
          <p:nvPr>
            <p:custDataLst>
              <p:tags r:id="rId6"/>
            </p:custDataLst>
          </p:nvPr>
        </p:nvSpPr>
        <p:spPr>
          <a:xfrm>
            <a:off x="702752" y="2293579"/>
            <a:ext cx="3317875" cy="1115695"/>
          </a:xfrm>
          <a:custGeom>
            <a:avLst/>
            <a:gdLst>
              <a:gd name="connsiteX0" fmla="*/ 3243856 w 3243892"/>
              <a:gd name="connsiteY0" fmla="*/ 565763 h 1157028"/>
              <a:gd name="connsiteX1" fmla="*/ 3082871 w 3243892"/>
              <a:gd name="connsiteY1" fmla="*/ 404778 h 1157028"/>
              <a:gd name="connsiteX2" fmla="*/ 2530640 w 3243892"/>
              <a:gd name="connsiteY2" fmla="*/ -110 h 1157028"/>
              <a:gd name="connsiteX3" fmla="*/ 578477 w 3243892"/>
              <a:gd name="connsiteY3" fmla="*/ -110 h 1157028"/>
              <a:gd name="connsiteX4" fmla="*/ -37 w 3243892"/>
              <a:gd name="connsiteY4" fmla="*/ 578404 h 1157028"/>
              <a:gd name="connsiteX5" fmla="*/ -37 w 3243892"/>
              <a:gd name="connsiteY5" fmla="*/ 578404 h 1157028"/>
              <a:gd name="connsiteX6" fmla="*/ 578477 w 3243892"/>
              <a:gd name="connsiteY6" fmla="*/ 1156918 h 1157028"/>
              <a:gd name="connsiteX7" fmla="*/ 2530640 w 3243892"/>
              <a:gd name="connsiteY7" fmla="*/ 1156918 h 1157028"/>
              <a:gd name="connsiteX8" fmla="*/ 3092442 w 3243892"/>
              <a:gd name="connsiteY8" fmla="*/ 717176 h 115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892" h="1157028">
                <a:moveTo>
                  <a:pt x="3243856" y="565763"/>
                </a:moveTo>
                <a:lnTo>
                  <a:pt x="3082871" y="404778"/>
                </a:lnTo>
                <a:cubicBezTo>
                  <a:pt x="3007015" y="163667"/>
                  <a:pt x="2783401" y="-281"/>
                  <a:pt x="2530640" y="-110"/>
                </a:cubicBezTo>
                <a:lnTo>
                  <a:pt x="578477" y="-110"/>
                </a:lnTo>
                <a:cubicBezTo>
                  <a:pt x="258972" y="-110"/>
                  <a:pt x="-37" y="258900"/>
                  <a:pt x="-37" y="578404"/>
                </a:cubicBezTo>
                <a:lnTo>
                  <a:pt x="-37" y="578404"/>
                </a:lnTo>
                <a:cubicBezTo>
                  <a:pt x="-37" y="897908"/>
                  <a:pt x="258972" y="1156918"/>
                  <a:pt x="578477" y="1156918"/>
                </a:cubicBezTo>
                <a:lnTo>
                  <a:pt x="2530640" y="1156918"/>
                </a:lnTo>
                <a:cubicBezTo>
                  <a:pt x="2796757" y="1156997"/>
                  <a:pt x="3028605" y="975522"/>
                  <a:pt x="3092442" y="717176"/>
                </a:cubicBezTo>
                <a:close/>
              </a:path>
            </a:pathLst>
          </a:custGeom>
          <a:solidFill>
            <a:schemeClr val="accent4"/>
          </a:solidFill>
          <a:ln w="7139" cap="flat">
            <a:noFill/>
            <a:prstDash val="solid"/>
            <a:miter/>
          </a:ln>
        </p:spPr>
        <p:txBody>
          <a:bodyPr rtlCol="0" anchor="ctr"/>
          <a:lstStyle/>
          <a:p>
            <a:r>
              <a:rPr lang="en-IN" altLang="en-US" sz="1600" b="1" dirty="0">
                <a:latin typeface="Times New Roman" panose="02020603050405020304" charset="0"/>
                <a:cs typeface="Times New Roman" panose="02020603050405020304" charset="0"/>
                <a:sym typeface="+mn-ea"/>
              </a:rPr>
              <a:t>    </a:t>
            </a:r>
            <a:r>
              <a:rPr lang="en-US" altLang="en-US" sz="1600" b="1" dirty="0">
                <a:latin typeface="Times New Roman" panose="02020603050405020304" charset="0"/>
                <a:cs typeface="Times New Roman" panose="02020603050405020304" charset="0"/>
                <a:sym typeface="+mn-ea"/>
              </a:rPr>
              <a:t>Faster Decision Making</a:t>
            </a:r>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sym typeface="+mn-ea"/>
              </a:rPr>
              <a:t> </a:t>
            </a:r>
            <a:r>
              <a:rPr lang="en-IN" altLang="en-US" sz="1600" dirty="0">
                <a:latin typeface="Times New Roman" panose="02020603050405020304" charset="0"/>
                <a:cs typeface="Times New Roman" panose="02020603050405020304" charset="0"/>
                <a:sym typeface="+mn-ea"/>
              </a:rPr>
              <a:t> </a:t>
            </a:r>
            <a:r>
              <a:rPr lang="en-US" altLang="en-US" sz="1600" dirty="0">
                <a:latin typeface="Times New Roman" panose="02020603050405020304" charset="0"/>
                <a:cs typeface="Times New Roman" panose="02020603050405020304" charset="0"/>
                <a:sym typeface="+mn-ea"/>
              </a:rPr>
              <a:t> Provides accurate product insights </a:t>
            </a:r>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sym typeface="+mn-ea"/>
              </a:rPr>
              <a:t> </a:t>
            </a:r>
            <a:r>
              <a:rPr lang="en-IN" altLang="en-US" sz="1600" dirty="0">
                <a:latin typeface="Times New Roman" panose="02020603050405020304" charset="0"/>
                <a:cs typeface="Times New Roman" panose="02020603050405020304" charset="0"/>
                <a:sym typeface="+mn-ea"/>
              </a:rPr>
              <a:t> </a:t>
            </a:r>
            <a:r>
              <a:rPr lang="en-US" altLang="en-US" sz="1600" dirty="0">
                <a:latin typeface="Times New Roman" panose="02020603050405020304" charset="0"/>
                <a:cs typeface="Times New Roman" panose="02020603050405020304" charset="0"/>
                <a:sym typeface="+mn-ea"/>
              </a:rPr>
              <a:t> to support quick and informed </a:t>
            </a:r>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sym typeface="+mn-ea"/>
              </a:rPr>
              <a:t>       business decisions.</a:t>
            </a:r>
            <a:endParaRPr lang="en-US" altLang="en-US" sz="1600" dirty="0">
              <a:latin typeface="Times New Roman" panose="02020603050405020304" charset="0"/>
              <a:cs typeface="Times New Roman" panose="02020603050405020304" charset="0"/>
            </a:endParaRPr>
          </a:p>
        </p:txBody>
      </p:sp>
      <p:sp>
        <p:nvSpPr>
          <p:cNvPr id="36" name="Freeform: Shape 12"/>
          <p:cNvSpPr/>
          <p:nvPr>
            <p:custDataLst>
              <p:tags r:id="rId7"/>
            </p:custDataLst>
          </p:nvPr>
        </p:nvSpPr>
        <p:spPr>
          <a:xfrm>
            <a:off x="162166" y="3619500"/>
            <a:ext cx="3833325" cy="1311275"/>
          </a:xfrm>
          <a:custGeom>
            <a:avLst/>
            <a:gdLst>
              <a:gd name="connsiteX0" fmla="*/ 3243856 w 3243892"/>
              <a:gd name="connsiteY0" fmla="*/ 566191 h 1157028"/>
              <a:gd name="connsiteX1" fmla="*/ 3082871 w 3243892"/>
              <a:gd name="connsiteY1" fmla="*/ 405207 h 1157028"/>
              <a:gd name="connsiteX2" fmla="*/ 2530640 w 3243892"/>
              <a:gd name="connsiteY2" fmla="*/ -110 h 1157028"/>
              <a:gd name="connsiteX3" fmla="*/ 578477 w 3243892"/>
              <a:gd name="connsiteY3" fmla="*/ -110 h 1157028"/>
              <a:gd name="connsiteX4" fmla="*/ -37 w 3243892"/>
              <a:gd name="connsiteY4" fmla="*/ 578404 h 1157028"/>
              <a:gd name="connsiteX5" fmla="*/ -37 w 3243892"/>
              <a:gd name="connsiteY5" fmla="*/ 578404 h 1157028"/>
              <a:gd name="connsiteX6" fmla="*/ 578477 w 3243892"/>
              <a:gd name="connsiteY6" fmla="*/ 1156918 h 1157028"/>
              <a:gd name="connsiteX7" fmla="*/ 2530640 w 3243892"/>
              <a:gd name="connsiteY7" fmla="*/ 1156918 h 1157028"/>
              <a:gd name="connsiteX8" fmla="*/ 3092442 w 3243892"/>
              <a:gd name="connsiteY8" fmla="*/ 717247 h 115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892" h="1157028">
                <a:moveTo>
                  <a:pt x="3243856" y="566191"/>
                </a:moveTo>
                <a:lnTo>
                  <a:pt x="3082871" y="405207"/>
                </a:lnTo>
                <a:cubicBezTo>
                  <a:pt x="3007065" y="163995"/>
                  <a:pt x="2783480" y="-103"/>
                  <a:pt x="2530640" y="-110"/>
                </a:cubicBezTo>
                <a:lnTo>
                  <a:pt x="578477" y="-110"/>
                </a:lnTo>
                <a:cubicBezTo>
                  <a:pt x="258972" y="-110"/>
                  <a:pt x="-37" y="258900"/>
                  <a:pt x="-37" y="578404"/>
                </a:cubicBezTo>
                <a:lnTo>
                  <a:pt x="-37" y="578404"/>
                </a:lnTo>
                <a:cubicBezTo>
                  <a:pt x="-37" y="897908"/>
                  <a:pt x="258972" y="1156918"/>
                  <a:pt x="578477" y="1156918"/>
                </a:cubicBezTo>
                <a:lnTo>
                  <a:pt x="2530640" y="1156918"/>
                </a:lnTo>
                <a:cubicBezTo>
                  <a:pt x="2796736" y="1157011"/>
                  <a:pt x="3028577" y="975572"/>
                  <a:pt x="3092442" y="717247"/>
                </a:cubicBezTo>
                <a:close/>
              </a:path>
            </a:pathLst>
          </a:custGeom>
          <a:solidFill>
            <a:schemeClr val="accent5"/>
          </a:solidFill>
          <a:ln w="7139" cap="flat">
            <a:noFill/>
            <a:prstDash val="solid"/>
            <a:miter/>
          </a:ln>
        </p:spPr>
        <p:txBody>
          <a:bodyPr rtlCol="0" anchor="ctr"/>
          <a:lstStyle/>
          <a:p>
            <a:r>
              <a:rPr lang="en-US" altLang="en-US" b="1" dirty="0">
                <a:latin typeface="Times New Roman" panose="02020603050405020304" charset="0"/>
                <a:cs typeface="Times New Roman" panose="02020603050405020304" charset="0"/>
              </a:rPr>
              <a:t>  RAG-Based Knowledge Retrieval</a:t>
            </a:r>
            <a:endParaRPr lang="en-US" altLang="en-US" sz="1500" b="1"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  Retrieves accurate information from         internal product documents using </a:t>
            </a:r>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      semantic search</a:t>
            </a:r>
            <a:r>
              <a:rPr lang="en-US" altLang="en-US" sz="1500" dirty="0">
                <a:latin typeface="Times New Roman" panose="02020603050405020304" charset="0"/>
                <a:cs typeface="Times New Roman" panose="02020603050405020304" charset="0"/>
              </a:rPr>
              <a:t>.</a:t>
            </a:r>
            <a:endParaRPr lang="en-US" altLang="en-US" sz="1500" dirty="0">
              <a:latin typeface="Times New Roman" panose="02020603050405020304" charset="0"/>
              <a:cs typeface="Times New Roman" panose="02020603050405020304" charset="0"/>
            </a:endParaRPr>
          </a:p>
        </p:txBody>
      </p:sp>
      <p:sp>
        <p:nvSpPr>
          <p:cNvPr id="37" name="Freeform: Shape 13"/>
          <p:cNvSpPr/>
          <p:nvPr>
            <p:custDataLst>
              <p:tags r:id="rId8"/>
            </p:custDataLst>
          </p:nvPr>
        </p:nvSpPr>
        <p:spPr>
          <a:xfrm>
            <a:off x="6990989" y="5159739"/>
            <a:ext cx="4313555" cy="1230073"/>
          </a:xfrm>
          <a:custGeom>
            <a:avLst/>
            <a:gdLst>
              <a:gd name="connsiteX0" fmla="*/ 2665341 w 3243892"/>
              <a:gd name="connsiteY0" fmla="*/ -110 h 1157242"/>
              <a:gd name="connsiteX1" fmla="*/ 713178 w 3243892"/>
              <a:gd name="connsiteY1" fmla="*/ -110 h 1157242"/>
              <a:gd name="connsiteX2" fmla="*/ 151376 w 3243892"/>
              <a:gd name="connsiteY2" fmla="*/ 439632 h 1157242"/>
              <a:gd name="connsiteX3" fmla="*/ -37 w 3243892"/>
              <a:gd name="connsiteY3" fmla="*/ 590903 h 1157242"/>
              <a:gd name="connsiteX4" fmla="*/ 160947 w 3243892"/>
              <a:gd name="connsiteY4" fmla="*/ 751887 h 1157242"/>
              <a:gd name="connsiteX5" fmla="*/ 713178 w 3243892"/>
              <a:gd name="connsiteY5" fmla="*/ 1157133 h 1157242"/>
              <a:gd name="connsiteX6" fmla="*/ 2665341 w 3243892"/>
              <a:gd name="connsiteY6" fmla="*/ 1157133 h 1157242"/>
              <a:gd name="connsiteX7" fmla="*/ 3243855 w 3243892"/>
              <a:gd name="connsiteY7" fmla="*/ 578618 h 1157242"/>
              <a:gd name="connsiteX8" fmla="*/ 3243855 w 3243892"/>
              <a:gd name="connsiteY8" fmla="*/ 578618 h 1157242"/>
              <a:gd name="connsiteX9" fmla="*/ 2665556 w 3243892"/>
              <a:gd name="connsiteY9" fmla="*/ -110 h 1157242"/>
              <a:gd name="connsiteX10" fmla="*/ 2665341 w 3243892"/>
              <a:gd name="connsiteY10" fmla="*/ -110 h 11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43892" h="1157242">
                <a:moveTo>
                  <a:pt x="2665341" y="-110"/>
                </a:moveTo>
                <a:lnTo>
                  <a:pt x="713178" y="-110"/>
                </a:lnTo>
                <a:cubicBezTo>
                  <a:pt x="447133" y="-60"/>
                  <a:pt x="215327" y="181358"/>
                  <a:pt x="151376" y="439632"/>
                </a:cubicBezTo>
                <a:lnTo>
                  <a:pt x="-37" y="590903"/>
                </a:lnTo>
                <a:lnTo>
                  <a:pt x="160947" y="751887"/>
                </a:lnTo>
                <a:cubicBezTo>
                  <a:pt x="236797" y="993056"/>
                  <a:pt x="460346" y="1157118"/>
                  <a:pt x="713178" y="1157133"/>
                </a:cubicBezTo>
                <a:lnTo>
                  <a:pt x="2665341" y="1157133"/>
                </a:lnTo>
                <a:cubicBezTo>
                  <a:pt x="2984881" y="1157133"/>
                  <a:pt x="3243855" y="898122"/>
                  <a:pt x="3243855" y="578618"/>
                </a:cubicBezTo>
                <a:lnTo>
                  <a:pt x="3243855" y="578618"/>
                </a:lnTo>
                <a:cubicBezTo>
                  <a:pt x="3243998" y="259114"/>
                  <a:pt x="2985024" y="11"/>
                  <a:pt x="2665556" y="-110"/>
                </a:cubicBezTo>
                <a:cubicBezTo>
                  <a:pt x="2665484" y="-110"/>
                  <a:pt x="2665413" y="-110"/>
                  <a:pt x="2665341" y="-110"/>
                </a:cubicBezTo>
                <a:close/>
              </a:path>
            </a:pathLst>
          </a:custGeom>
          <a:solidFill>
            <a:schemeClr val="accent1">
              <a:lumMod val="40000"/>
              <a:lumOff val="60000"/>
            </a:schemeClr>
          </a:solidFill>
          <a:ln w="7139" cap="flat">
            <a:solidFill>
              <a:schemeClr val="accent1">
                <a:lumMod val="40000"/>
                <a:lumOff val="60000"/>
              </a:schemeClr>
            </a:solidFill>
            <a:prstDash val="solid"/>
            <a:miter/>
          </a:ln>
        </p:spPr>
        <p:txBody>
          <a:bodyPr rtlCol="0" anchor="ctr"/>
          <a:lstStyle/>
          <a:p>
            <a:endParaRPr lang="en-US" altLang="en-US">
              <a:solidFill>
                <a:schemeClr val="bg1"/>
              </a:solidFill>
              <a:latin typeface="Times New Roman" panose="02020603050405020304" charset="0"/>
              <a:cs typeface="Times New Roman" panose="02020603050405020304" charset="0"/>
            </a:endParaRPr>
          </a:p>
        </p:txBody>
      </p:sp>
      <p:sp>
        <p:nvSpPr>
          <p:cNvPr id="38" name="Freeform: Shape 14"/>
          <p:cNvSpPr/>
          <p:nvPr>
            <p:custDataLst>
              <p:tags r:id="rId9"/>
            </p:custDataLst>
          </p:nvPr>
        </p:nvSpPr>
        <p:spPr>
          <a:xfrm>
            <a:off x="8106870" y="3805529"/>
            <a:ext cx="3629805" cy="1183345"/>
          </a:xfrm>
          <a:custGeom>
            <a:avLst/>
            <a:gdLst>
              <a:gd name="connsiteX0" fmla="*/ 2665555 w 3243820"/>
              <a:gd name="connsiteY0" fmla="*/ -110 h 1157385"/>
              <a:gd name="connsiteX1" fmla="*/ 713106 w 3243820"/>
              <a:gd name="connsiteY1" fmla="*/ -110 h 1157385"/>
              <a:gd name="connsiteX2" fmla="*/ 151376 w 3243820"/>
              <a:gd name="connsiteY2" fmla="*/ 439561 h 1157385"/>
              <a:gd name="connsiteX3" fmla="*/ -37 w 3243820"/>
              <a:gd name="connsiteY3" fmla="*/ 590974 h 1157385"/>
              <a:gd name="connsiteX4" fmla="*/ 160946 w 3243820"/>
              <a:gd name="connsiteY4" fmla="*/ 751958 h 1157385"/>
              <a:gd name="connsiteX5" fmla="*/ 713106 w 3243820"/>
              <a:gd name="connsiteY5" fmla="*/ 1157275 h 1157385"/>
              <a:gd name="connsiteX6" fmla="*/ 2665269 w 3243820"/>
              <a:gd name="connsiteY6" fmla="*/ 1157275 h 1157385"/>
              <a:gd name="connsiteX7" fmla="*/ 3243784 w 3243820"/>
              <a:gd name="connsiteY7" fmla="*/ 578761 h 1157385"/>
              <a:gd name="connsiteX8" fmla="*/ 3243784 w 3243820"/>
              <a:gd name="connsiteY8" fmla="*/ 578761 h 1157385"/>
              <a:gd name="connsiteX9" fmla="*/ 2665627 w 3243820"/>
              <a:gd name="connsiteY9" fmla="*/ -110 h 1157385"/>
              <a:gd name="connsiteX10" fmla="*/ 2665555 w 3243820"/>
              <a:gd name="connsiteY10" fmla="*/ -110 h 115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43820" h="1157385">
                <a:moveTo>
                  <a:pt x="2665555" y="-110"/>
                </a:moveTo>
                <a:lnTo>
                  <a:pt x="713106" y="-110"/>
                </a:lnTo>
                <a:cubicBezTo>
                  <a:pt x="447061" y="-167"/>
                  <a:pt x="215227" y="181265"/>
                  <a:pt x="151376" y="439561"/>
                </a:cubicBezTo>
                <a:lnTo>
                  <a:pt x="-37" y="590974"/>
                </a:lnTo>
                <a:lnTo>
                  <a:pt x="160946" y="751958"/>
                </a:lnTo>
                <a:cubicBezTo>
                  <a:pt x="236654" y="993213"/>
                  <a:pt x="460274" y="1157354"/>
                  <a:pt x="713106" y="1157275"/>
                </a:cubicBezTo>
                <a:lnTo>
                  <a:pt x="2665269" y="1157275"/>
                </a:lnTo>
                <a:cubicBezTo>
                  <a:pt x="2984809" y="1157275"/>
                  <a:pt x="3243784" y="898265"/>
                  <a:pt x="3243784" y="578761"/>
                </a:cubicBezTo>
                <a:lnTo>
                  <a:pt x="3243784" y="578761"/>
                </a:lnTo>
                <a:cubicBezTo>
                  <a:pt x="3243998" y="259257"/>
                  <a:pt x="2985095" y="90"/>
                  <a:pt x="2665627" y="-110"/>
                </a:cubicBezTo>
                <a:cubicBezTo>
                  <a:pt x="2665627" y="-110"/>
                  <a:pt x="2665555" y="-110"/>
                  <a:pt x="2665555" y="-110"/>
                </a:cubicBezTo>
                <a:close/>
              </a:path>
            </a:pathLst>
          </a:custGeom>
          <a:solidFill>
            <a:schemeClr val="accent6"/>
          </a:solidFill>
          <a:ln w="7139" cap="flat">
            <a:noFill/>
            <a:prstDash val="solid"/>
            <a:miter/>
          </a:ln>
        </p:spPr>
        <p:txBody>
          <a:bodyPr rtlCol="0" anchor="ctr"/>
          <a:lstStyle/>
          <a:p>
            <a:r>
              <a:rPr lang="en-US" altLang="en-US" b="1" dirty="0">
                <a:latin typeface="Times New Roman" panose="02020603050405020304" charset="0"/>
                <a:cs typeface="Times New Roman" panose="02020603050405020304" charset="0"/>
              </a:rPr>
              <a:t>     </a:t>
            </a:r>
            <a:endParaRPr lang="en-US" altLang="en-US" sz="1600" dirty="0">
              <a:latin typeface="Times New Roman" panose="02020603050405020304" charset="0"/>
              <a:cs typeface="Times New Roman" panose="02020603050405020304" charset="0"/>
            </a:endParaRPr>
          </a:p>
        </p:txBody>
      </p:sp>
      <p:sp>
        <p:nvSpPr>
          <p:cNvPr id="39" name="Freeform: Shape 15"/>
          <p:cNvSpPr/>
          <p:nvPr>
            <p:custDataLst>
              <p:tags r:id="rId10"/>
            </p:custDataLst>
          </p:nvPr>
        </p:nvSpPr>
        <p:spPr>
          <a:xfrm>
            <a:off x="6131495" y="3713453"/>
            <a:ext cx="1846816" cy="1309513"/>
          </a:xfrm>
          <a:custGeom>
            <a:avLst/>
            <a:gdLst>
              <a:gd name="connsiteX0" fmla="*/ -37 w 1846816"/>
              <a:gd name="connsiteY0" fmla="*/ -110 h 1309513"/>
              <a:gd name="connsiteX1" fmla="*/ 1846779 w 1846816"/>
              <a:gd name="connsiteY1" fmla="*/ 5032 h 1309513"/>
              <a:gd name="connsiteX2" fmla="*/ 1302262 w 1846816"/>
              <a:gd name="connsiteY2" fmla="*/ 1309403 h 1309513"/>
            </a:gdLst>
            <a:ahLst/>
            <a:cxnLst>
              <a:cxn ang="0">
                <a:pos x="connsiteX0" y="connsiteY0"/>
              </a:cxn>
              <a:cxn ang="0">
                <a:pos x="connsiteX1" y="connsiteY1"/>
              </a:cxn>
              <a:cxn ang="0">
                <a:pos x="connsiteX2" y="connsiteY2"/>
              </a:cxn>
            </a:cxnLst>
            <a:rect l="l" t="t" r="r" b="b"/>
            <a:pathLst>
              <a:path w="1846816" h="1309513">
                <a:moveTo>
                  <a:pt x="-37" y="-110"/>
                </a:moveTo>
                <a:lnTo>
                  <a:pt x="1846779" y="5032"/>
                </a:lnTo>
                <a:cubicBezTo>
                  <a:pt x="1834424" y="492534"/>
                  <a:pt x="1640157" y="957795"/>
                  <a:pt x="1302262" y="1309403"/>
                </a:cubicBezTo>
                <a:close/>
              </a:path>
            </a:pathLst>
          </a:custGeom>
          <a:solidFill>
            <a:schemeClr val="accent6"/>
          </a:solidFill>
          <a:ln w="7139" cap="flat">
            <a:noFill/>
            <a:prstDash val="solid"/>
            <a:miter/>
          </a:ln>
        </p:spPr>
        <p:txBody>
          <a:bodyPr rtlCol="0" anchor="ctr"/>
          <a:lstStyle/>
          <a:p>
            <a:endParaRPr lang="en-IN" sz="1500">
              <a:latin typeface="Times New Roman" panose="02020603050405020304" charset="0"/>
              <a:cs typeface="Times New Roman" panose="02020603050405020304" charset="0"/>
            </a:endParaRPr>
          </a:p>
        </p:txBody>
      </p:sp>
      <p:sp>
        <p:nvSpPr>
          <p:cNvPr id="40" name="Freeform: Shape 16"/>
          <p:cNvSpPr/>
          <p:nvPr>
            <p:custDataLst>
              <p:tags r:id="rId11"/>
            </p:custDataLst>
          </p:nvPr>
        </p:nvSpPr>
        <p:spPr>
          <a:xfrm>
            <a:off x="6067215" y="3772090"/>
            <a:ext cx="1307584" cy="1847174"/>
          </a:xfrm>
          <a:custGeom>
            <a:avLst/>
            <a:gdLst>
              <a:gd name="connsiteX0" fmla="*/ 5248 w 1307584"/>
              <a:gd name="connsiteY0" fmla="*/ -110 h 1847174"/>
              <a:gd name="connsiteX1" fmla="*/ 1307548 w 1307584"/>
              <a:gd name="connsiteY1" fmla="*/ 1309474 h 1847174"/>
              <a:gd name="connsiteX2" fmla="*/ -37 w 1307584"/>
              <a:gd name="connsiteY2" fmla="*/ 1847064 h 1847174"/>
            </a:gdLst>
            <a:ahLst/>
            <a:cxnLst>
              <a:cxn ang="0">
                <a:pos x="connsiteX0" y="connsiteY0"/>
              </a:cxn>
              <a:cxn ang="0">
                <a:pos x="connsiteX1" y="connsiteY1"/>
              </a:cxn>
              <a:cxn ang="0">
                <a:pos x="connsiteX2" y="connsiteY2"/>
              </a:cxn>
            </a:cxnLst>
            <a:rect l="l" t="t" r="r" b="b"/>
            <a:pathLst>
              <a:path w="1307584" h="1847174">
                <a:moveTo>
                  <a:pt x="5248" y="-110"/>
                </a:moveTo>
                <a:lnTo>
                  <a:pt x="1307548" y="1309474"/>
                </a:lnTo>
                <a:cubicBezTo>
                  <a:pt x="954068" y="1645606"/>
                  <a:pt x="487650" y="1837365"/>
                  <a:pt x="-37" y="1847064"/>
                </a:cubicBezTo>
                <a:close/>
              </a:path>
            </a:pathLst>
          </a:custGeom>
          <a:solidFill>
            <a:schemeClr val="accent1">
              <a:lumMod val="40000"/>
              <a:lumOff val="60000"/>
            </a:schemeClr>
          </a:solidFill>
          <a:ln w="7139" cap="flat">
            <a:noFill/>
            <a:prstDash val="solid"/>
            <a:miter/>
          </a:ln>
        </p:spPr>
        <p:txBody>
          <a:bodyPr rtlCol="0" anchor="ctr"/>
          <a:lstStyle/>
          <a:p>
            <a:endParaRPr lang="en-IN" sz="1500">
              <a:latin typeface="Times New Roman" panose="02020603050405020304" charset="0"/>
              <a:cs typeface="Times New Roman" panose="02020603050405020304" charset="0"/>
            </a:endParaRPr>
          </a:p>
        </p:txBody>
      </p:sp>
      <p:sp>
        <p:nvSpPr>
          <p:cNvPr id="42" name="Freeform: Shape 17"/>
          <p:cNvSpPr/>
          <p:nvPr>
            <p:custDataLst>
              <p:tags r:id="rId12"/>
            </p:custDataLst>
          </p:nvPr>
        </p:nvSpPr>
        <p:spPr>
          <a:xfrm>
            <a:off x="6131495" y="2327876"/>
            <a:ext cx="1847031" cy="1307441"/>
          </a:xfrm>
          <a:custGeom>
            <a:avLst/>
            <a:gdLst>
              <a:gd name="connsiteX0" fmla="*/ 1309762 w 1847031"/>
              <a:gd name="connsiteY0" fmla="*/ -110 h 1307441"/>
              <a:gd name="connsiteX1" fmla="*/ 1846994 w 1847031"/>
              <a:gd name="connsiteY1" fmla="*/ 1307332 h 1307441"/>
              <a:gd name="connsiteX2" fmla="*/ -37 w 1847031"/>
              <a:gd name="connsiteY2" fmla="*/ 1302261 h 1307441"/>
            </a:gdLst>
            <a:ahLst/>
            <a:cxnLst>
              <a:cxn ang="0">
                <a:pos x="connsiteX0" y="connsiteY0"/>
              </a:cxn>
              <a:cxn ang="0">
                <a:pos x="connsiteX1" y="connsiteY1"/>
              </a:cxn>
              <a:cxn ang="0">
                <a:pos x="connsiteX2" y="connsiteY2"/>
              </a:cxn>
            </a:cxnLst>
            <a:rect l="l" t="t" r="r" b="b"/>
            <a:pathLst>
              <a:path w="1847031" h="1307441">
                <a:moveTo>
                  <a:pt x="1309762" y="-110"/>
                </a:moveTo>
                <a:cubicBezTo>
                  <a:pt x="1645729" y="353405"/>
                  <a:pt x="1837352" y="819751"/>
                  <a:pt x="1846994" y="1307332"/>
                </a:cubicBezTo>
                <a:lnTo>
                  <a:pt x="-37" y="1302261"/>
                </a:lnTo>
                <a:close/>
              </a:path>
            </a:pathLst>
          </a:custGeom>
          <a:solidFill>
            <a:schemeClr val="accent2"/>
          </a:solidFill>
          <a:ln w="7139" cap="flat">
            <a:noFill/>
            <a:prstDash val="solid"/>
            <a:miter/>
          </a:ln>
        </p:spPr>
        <p:txBody>
          <a:bodyPr rtlCol="0" anchor="ctr"/>
          <a:lstStyle/>
          <a:p>
            <a:endParaRPr lang="en-IN" sz="1500">
              <a:latin typeface="Times New Roman" panose="02020603050405020304" charset="0"/>
              <a:cs typeface="Times New Roman" panose="02020603050405020304" charset="0"/>
            </a:endParaRPr>
          </a:p>
        </p:txBody>
      </p:sp>
      <p:sp>
        <p:nvSpPr>
          <p:cNvPr id="43" name="Freeform: Shape 18"/>
          <p:cNvSpPr/>
          <p:nvPr>
            <p:custDataLst>
              <p:tags r:id="rId13"/>
            </p:custDataLst>
          </p:nvPr>
        </p:nvSpPr>
        <p:spPr>
          <a:xfrm>
            <a:off x="6073000" y="1724364"/>
            <a:ext cx="1309584" cy="1846817"/>
          </a:xfrm>
          <a:custGeom>
            <a:avLst/>
            <a:gdLst>
              <a:gd name="connsiteX0" fmla="*/ 5105 w 1309584"/>
              <a:gd name="connsiteY0" fmla="*/ -110 h 1846817"/>
              <a:gd name="connsiteX1" fmla="*/ 1309547 w 1309584"/>
              <a:gd name="connsiteY1" fmla="*/ 544479 h 1846817"/>
              <a:gd name="connsiteX2" fmla="*/ -37 w 1309584"/>
              <a:gd name="connsiteY2" fmla="*/ 1846707 h 1846817"/>
            </a:gdLst>
            <a:ahLst/>
            <a:cxnLst>
              <a:cxn ang="0">
                <a:pos x="connsiteX0" y="connsiteY0"/>
              </a:cxn>
              <a:cxn ang="0">
                <a:pos x="connsiteX1" y="connsiteY1"/>
              </a:cxn>
              <a:cxn ang="0">
                <a:pos x="connsiteX2" y="connsiteY2"/>
              </a:cxn>
            </a:cxnLst>
            <a:rect l="l" t="t" r="r" b="b"/>
            <a:pathLst>
              <a:path w="1309584" h="1846817">
                <a:moveTo>
                  <a:pt x="5105" y="-110"/>
                </a:moveTo>
                <a:cubicBezTo>
                  <a:pt x="492642" y="12281"/>
                  <a:pt x="957925" y="206534"/>
                  <a:pt x="1309547" y="544479"/>
                </a:cubicBezTo>
                <a:lnTo>
                  <a:pt x="-37" y="1846707"/>
                </a:lnTo>
                <a:close/>
              </a:path>
            </a:pathLst>
          </a:custGeom>
          <a:solidFill>
            <a:schemeClr val="accent3"/>
          </a:solidFill>
          <a:ln w="7139" cap="flat">
            <a:noFill/>
            <a:prstDash val="solid"/>
            <a:miter/>
          </a:ln>
        </p:spPr>
        <p:txBody>
          <a:bodyPr rtlCol="0" anchor="ctr"/>
          <a:lstStyle/>
          <a:p>
            <a:endParaRPr lang="en-IN" sz="1500">
              <a:latin typeface="Times New Roman" panose="02020603050405020304" charset="0"/>
              <a:cs typeface="Times New Roman" panose="02020603050405020304" charset="0"/>
            </a:endParaRPr>
          </a:p>
        </p:txBody>
      </p:sp>
      <p:sp>
        <p:nvSpPr>
          <p:cNvPr id="44" name="Freeform: Shape 19"/>
          <p:cNvSpPr/>
          <p:nvPr>
            <p:custDataLst>
              <p:tags r:id="rId14"/>
            </p:custDataLst>
          </p:nvPr>
        </p:nvSpPr>
        <p:spPr>
          <a:xfrm>
            <a:off x="4695423" y="3768733"/>
            <a:ext cx="1307513" cy="1846888"/>
          </a:xfrm>
          <a:custGeom>
            <a:avLst/>
            <a:gdLst>
              <a:gd name="connsiteX0" fmla="*/ 1302476 w 1307513"/>
              <a:gd name="connsiteY0" fmla="*/ -110 h 1846888"/>
              <a:gd name="connsiteX1" fmla="*/ -37 w 1307513"/>
              <a:gd name="connsiteY1" fmla="*/ 1309260 h 1846888"/>
              <a:gd name="connsiteX2" fmla="*/ 1307476 w 1307513"/>
              <a:gd name="connsiteY2" fmla="*/ 1846778 h 1846888"/>
            </a:gdLst>
            <a:ahLst/>
            <a:cxnLst>
              <a:cxn ang="0">
                <a:pos x="connsiteX0" y="connsiteY0"/>
              </a:cxn>
              <a:cxn ang="0">
                <a:pos x="connsiteX1" y="connsiteY1"/>
              </a:cxn>
              <a:cxn ang="0">
                <a:pos x="connsiteX2" y="connsiteY2"/>
              </a:cxn>
            </a:cxnLst>
            <a:rect l="l" t="t" r="r" b="b"/>
            <a:pathLst>
              <a:path w="1307513" h="1846888">
                <a:moveTo>
                  <a:pt x="1302476" y="-110"/>
                </a:moveTo>
                <a:lnTo>
                  <a:pt x="-37" y="1309260"/>
                </a:lnTo>
                <a:cubicBezTo>
                  <a:pt x="353456" y="1645306"/>
                  <a:pt x="819839" y="1837036"/>
                  <a:pt x="1307476" y="1846778"/>
                </a:cubicBezTo>
                <a:close/>
              </a:path>
            </a:pathLst>
          </a:custGeom>
          <a:solidFill>
            <a:schemeClr val="accent2">
              <a:lumMod val="60000"/>
              <a:lumOff val="40000"/>
            </a:schemeClr>
          </a:solidFill>
          <a:ln w="7139" cap="flat">
            <a:noFill/>
            <a:prstDash val="solid"/>
            <a:miter/>
          </a:ln>
        </p:spPr>
        <p:txBody>
          <a:bodyPr rtlCol="0" anchor="ctr"/>
          <a:lstStyle/>
          <a:p>
            <a:endParaRPr lang="en-IN" sz="1500">
              <a:latin typeface="Times New Roman" panose="02020603050405020304" charset="0"/>
              <a:cs typeface="Times New Roman" panose="02020603050405020304" charset="0"/>
            </a:endParaRPr>
          </a:p>
        </p:txBody>
      </p:sp>
      <p:sp>
        <p:nvSpPr>
          <p:cNvPr id="45" name="Freeform: Shape 20"/>
          <p:cNvSpPr/>
          <p:nvPr>
            <p:custDataLst>
              <p:tags r:id="rId15"/>
            </p:custDataLst>
          </p:nvPr>
        </p:nvSpPr>
        <p:spPr>
          <a:xfrm>
            <a:off x="4092054" y="3710024"/>
            <a:ext cx="1846602" cy="1309298"/>
          </a:xfrm>
          <a:custGeom>
            <a:avLst/>
            <a:gdLst>
              <a:gd name="connsiteX0" fmla="*/ -37 w 1846602"/>
              <a:gd name="connsiteY0" fmla="*/ 4746 h 1309298"/>
              <a:gd name="connsiteX1" fmla="*/ 544337 w 1846602"/>
              <a:gd name="connsiteY1" fmla="*/ 1309189 h 1309298"/>
              <a:gd name="connsiteX2" fmla="*/ 1846565 w 1846602"/>
              <a:gd name="connsiteY2" fmla="*/ -110 h 1309298"/>
            </a:gdLst>
            <a:ahLst/>
            <a:cxnLst>
              <a:cxn ang="0">
                <a:pos x="connsiteX0" y="connsiteY0"/>
              </a:cxn>
              <a:cxn ang="0">
                <a:pos x="connsiteX1" y="connsiteY1"/>
              </a:cxn>
              <a:cxn ang="0">
                <a:pos x="connsiteX2" y="connsiteY2"/>
              </a:cxn>
            </a:cxnLst>
            <a:rect l="l" t="t" r="r" b="b"/>
            <a:pathLst>
              <a:path w="1846602" h="1309298">
                <a:moveTo>
                  <a:pt x="-37" y="4746"/>
                </a:moveTo>
                <a:cubicBezTo>
                  <a:pt x="12347" y="492241"/>
                  <a:pt x="206514" y="957502"/>
                  <a:pt x="544337" y="1309189"/>
                </a:cubicBezTo>
                <a:lnTo>
                  <a:pt x="1846565" y="-110"/>
                </a:lnTo>
                <a:close/>
              </a:path>
            </a:pathLst>
          </a:custGeom>
          <a:solidFill>
            <a:schemeClr val="accent5"/>
          </a:solidFill>
          <a:ln w="7139" cap="flat">
            <a:noFill/>
            <a:prstDash val="solid"/>
            <a:miter/>
          </a:ln>
        </p:spPr>
        <p:txBody>
          <a:bodyPr rtlCol="0" anchor="ctr"/>
          <a:lstStyle/>
          <a:p>
            <a:endParaRPr lang="en-IN" sz="1500">
              <a:latin typeface="Times New Roman" panose="02020603050405020304" charset="0"/>
              <a:cs typeface="Times New Roman" panose="02020603050405020304" charset="0"/>
            </a:endParaRPr>
          </a:p>
        </p:txBody>
      </p:sp>
      <p:sp>
        <p:nvSpPr>
          <p:cNvPr id="46" name="Freeform: Shape 21"/>
          <p:cNvSpPr/>
          <p:nvPr>
            <p:custDataLst>
              <p:tags r:id="rId16"/>
            </p:custDataLst>
          </p:nvPr>
        </p:nvSpPr>
        <p:spPr>
          <a:xfrm>
            <a:off x="4091911" y="2324305"/>
            <a:ext cx="1846745" cy="1307013"/>
          </a:xfrm>
          <a:custGeom>
            <a:avLst/>
            <a:gdLst>
              <a:gd name="connsiteX0" fmla="*/ 537409 w 1846745"/>
              <a:gd name="connsiteY0" fmla="*/ -110 h 1307013"/>
              <a:gd name="connsiteX1" fmla="*/ -37 w 1846745"/>
              <a:gd name="connsiteY1" fmla="*/ 1306903 h 1307013"/>
              <a:gd name="connsiteX2" fmla="*/ 1846708 w 1846745"/>
              <a:gd name="connsiteY2" fmla="*/ 1302189 h 1307013"/>
            </a:gdLst>
            <a:ahLst/>
            <a:cxnLst>
              <a:cxn ang="0">
                <a:pos x="connsiteX0" y="connsiteY0"/>
              </a:cxn>
              <a:cxn ang="0">
                <a:pos x="connsiteX1" y="connsiteY1"/>
              </a:cxn>
              <a:cxn ang="0">
                <a:pos x="connsiteX2" y="connsiteY2"/>
              </a:cxn>
            </a:cxnLst>
            <a:rect l="l" t="t" r="r" b="b"/>
            <a:pathLst>
              <a:path w="1846745" h="1307013">
                <a:moveTo>
                  <a:pt x="537409" y="-110"/>
                </a:moveTo>
                <a:cubicBezTo>
                  <a:pt x="201493" y="353269"/>
                  <a:pt x="9805" y="819444"/>
                  <a:pt x="-37" y="1306903"/>
                </a:cubicBezTo>
                <a:lnTo>
                  <a:pt x="1846708" y="1302189"/>
                </a:lnTo>
                <a:close/>
              </a:path>
            </a:pathLst>
          </a:custGeom>
          <a:solidFill>
            <a:schemeClr val="accent4"/>
          </a:solidFill>
          <a:ln w="7139" cap="flat">
            <a:noFill/>
            <a:prstDash val="solid"/>
            <a:miter/>
          </a:ln>
        </p:spPr>
        <p:txBody>
          <a:bodyPr rtlCol="0" anchor="ctr"/>
          <a:lstStyle/>
          <a:p>
            <a:endParaRPr lang="en-IN" sz="1500">
              <a:latin typeface="Times New Roman" panose="02020603050405020304" charset="0"/>
              <a:cs typeface="Times New Roman" panose="02020603050405020304" charset="0"/>
            </a:endParaRPr>
          </a:p>
        </p:txBody>
      </p:sp>
      <p:sp>
        <p:nvSpPr>
          <p:cNvPr id="47" name="Freeform: Shape 22"/>
          <p:cNvSpPr/>
          <p:nvPr>
            <p:custDataLst>
              <p:tags r:id="rId17"/>
            </p:custDataLst>
          </p:nvPr>
        </p:nvSpPr>
        <p:spPr>
          <a:xfrm>
            <a:off x="4687495" y="1724150"/>
            <a:ext cx="1307441" cy="1846817"/>
          </a:xfrm>
          <a:custGeom>
            <a:avLst/>
            <a:gdLst>
              <a:gd name="connsiteX0" fmla="*/ 598546 w 1307441"/>
              <a:gd name="connsiteY0" fmla="*/ 148161 h 1846817"/>
              <a:gd name="connsiteX1" fmla="*/ 1307405 w 1307441"/>
              <a:gd name="connsiteY1" fmla="*/ -110 h 1846817"/>
              <a:gd name="connsiteX2" fmla="*/ 1302262 w 1307441"/>
              <a:gd name="connsiteY2" fmla="*/ 1846707 h 1846817"/>
              <a:gd name="connsiteX3" fmla="*/ -37 w 1307441"/>
              <a:gd name="connsiteY3" fmla="*/ 537122 h 1846817"/>
              <a:gd name="connsiteX4" fmla="*/ 598546 w 1307441"/>
              <a:gd name="connsiteY4" fmla="*/ 148161 h 1846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7441" h="1846817">
                <a:moveTo>
                  <a:pt x="598546" y="148161"/>
                </a:moveTo>
                <a:cubicBezTo>
                  <a:pt x="823431" y="54684"/>
                  <a:pt x="1063907" y="4389"/>
                  <a:pt x="1307405" y="-110"/>
                </a:cubicBezTo>
                <a:lnTo>
                  <a:pt x="1302262" y="1846707"/>
                </a:lnTo>
                <a:lnTo>
                  <a:pt x="-37" y="537122"/>
                </a:lnTo>
                <a:cubicBezTo>
                  <a:pt x="173724" y="371574"/>
                  <a:pt x="376690" y="239695"/>
                  <a:pt x="598546" y="148161"/>
                </a:cubicBezTo>
                <a:close/>
              </a:path>
            </a:pathLst>
          </a:custGeom>
          <a:solidFill>
            <a:schemeClr val="accent1"/>
          </a:solidFill>
          <a:ln w="7139" cap="flat">
            <a:noFill/>
            <a:prstDash val="solid"/>
            <a:miter/>
          </a:ln>
        </p:spPr>
        <p:txBody>
          <a:bodyPr rtlCol="0" anchor="ctr"/>
          <a:lstStyle/>
          <a:p>
            <a:endParaRPr lang="en-IN" sz="1500">
              <a:latin typeface="Times New Roman" panose="02020603050405020304" charset="0"/>
              <a:cs typeface="Times New Roman" panose="02020603050405020304" charset="0"/>
            </a:endParaRPr>
          </a:p>
        </p:txBody>
      </p:sp>
      <p:sp>
        <p:nvSpPr>
          <p:cNvPr id="48" name="Freeform: Shape 23"/>
          <p:cNvSpPr/>
          <p:nvPr>
            <p:custDataLst>
              <p:tags r:id="rId18"/>
            </p:custDataLst>
          </p:nvPr>
        </p:nvSpPr>
        <p:spPr>
          <a:xfrm>
            <a:off x="5071421" y="1512742"/>
            <a:ext cx="555516" cy="555516"/>
          </a:xfrm>
          <a:custGeom>
            <a:avLst/>
            <a:gdLst>
              <a:gd name="connsiteX0" fmla="*/ 555516 w 555516"/>
              <a:gd name="connsiteY0" fmla="*/ 277758 h 555516"/>
              <a:gd name="connsiteX1" fmla="*/ 277758 w 555516"/>
              <a:gd name="connsiteY1" fmla="*/ 555516 h 555516"/>
              <a:gd name="connsiteX2" fmla="*/ 0 w 555516"/>
              <a:gd name="connsiteY2" fmla="*/ 277758 h 555516"/>
              <a:gd name="connsiteX3" fmla="*/ 277758 w 555516"/>
              <a:gd name="connsiteY3" fmla="*/ 0 h 555516"/>
              <a:gd name="connsiteX4" fmla="*/ 555516 w 555516"/>
              <a:gd name="connsiteY4" fmla="*/ 277758 h 55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16" h="555516">
                <a:moveTo>
                  <a:pt x="555516" y="277758"/>
                </a:moveTo>
                <a:cubicBezTo>
                  <a:pt x="555516" y="431160"/>
                  <a:pt x="431160" y="555516"/>
                  <a:pt x="277758" y="555516"/>
                </a:cubicBezTo>
                <a:cubicBezTo>
                  <a:pt x="124357" y="555516"/>
                  <a:pt x="0" y="431160"/>
                  <a:pt x="0" y="277758"/>
                </a:cubicBezTo>
                <a:cubicBezTo>
                  <a:pt x="0" y="124357"/>
                  <a:pt x="124356" y="0"/>
                  <a:pt x="277758" y="0"/>
                </a:cubicBezTo>
                <a:cubicBezTo>
                  <a:pt x="431160" y="0"/>
                  <a:pt x="555516" y="124357"/>
                  <a:pt x="555516" y="277758"/>
                </a:cubicBezTo>
                <a:close/>
              </a:path>
            </a:pathLst>
          </a:custGeom>
          <a:solidFill>
            <a:schemeClr val="bg1">
              <a:lumMod val="95000"/>
            </a:schemeClr>
          </a:solidFill>
          <a:ln w="47189" cap="flat">
            <a:solidFill>
              <a:schemeClr val="tx1"/>
            </a:solidFill>
            <a:prstDash val="solid"/>
            <a:miter/>
          </a:ln>
        </p:spPr>
        <p:txBody>
          <a:bodyPr rtlCol="0" anchor="ctr"/>
          <a:lstStyle/>
          <a:p>
            <a:pPr algn="ctr"/>
            <a:r>
              <a:rPr lang="en-IN" sz="1500" b="1" dirty="0">
                <a:solidFill>
                  <a:schemeClr val="tx1">
                    <a:lumMod val="85000"/>
                    <a:lumOff val="15000"/>
                  </a:schemeClr>
                </a:solidFill>
                <a:latin typeface="Times New Roman" panose="02020603050405020304" charset="0"/>
                <a:cs typeface="Times New Roman" panose="02020603050405020304" charset="0"/>
              </a:rPr>
              <a:t>01</a:t>
            </a:r>
            <a:endParaRPr lang="en-IN" sz="1500" b="1" dirty="0">
              <a:solidFill>
                <a:schemeClr val="tx1">
                  <a:lumMod val="85000"/>
                  <a:lumOff val="15000"/>
                </a:schemeClr>
              </a:solidFill>
              <a:latin typeface="Times New Roman" panose="02020603050405020304" charset="0"/>
              <a:cs typeface="Times New Roman" panose="02020603050405020304" charset="0"/>
            </a:endParaRPr>
          </a:p>
        </p:txBody>
      </p:sp>
      <p:sp>
        <p:nvSpPr>
          <p:cNvPr id="49" name="Freeform: Shape 24"/>
          <p:cNvSpPr/>
          <p:nvPr>
            <p:custDataLst>
              <p:tags r:id="rId19"/>
            </p:custDataLst>
          </p:nvPr>
        </p:nvSpPr>
        <p:spPr>
          <a:xfrm>
            <a:off x="6499601" y="1594662"/>
            <a:ext cx="555516" cy="555516"/>
          </a:xfrm>
          <a:custGeom>
            <a:avLst/>
            <a:gdLst>
              <a:gd name="connsiteX0" fmla="*/ 555516 w 555516"/>
              <a:gd name="connsiteY0" fmla="*/ 277758 h 555516"/>
              <a:gd name="connsiteX1" fmla="*/ 277758 w 555516"/>
              <a:gd name="connsiteY1" fmla="*/ 555516 h 555516"/>
              <a:gd name="connsiteX2" fmla="*/ 0 w 555516"/>
              <a:gd name="connsiteY2" fmla="*/ 277758 h 555516"/>
              <a:gd name="connsiteX3" fmla="*/ 277758 w 555516"/>
              <a:gd name="connsiteY3" fmla="*/ 0 h 555516"/>
              <a:gd name="connsiteX4" fmla="*/ 555516 w 555516"/>
              <a:gd name="connsiteY4" fmla="*/ 277758 h 55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16" h="555516">
                <a:moveTo>
                  <a:pt x="555516" y="277758"/>
                </a:moveTo>
                <a:cubicBezTo>
                  <a:pt x="555516" y="431160"/>
                  <a:pt x="431160" y="555516"/>
                  <a:pt x="277758" y="555516"/>
                </a:cubicBezTo>
                <a:cubicBezTo>
                  <a:pt x="124357" y="555516"/>
                  <a:pt x="0" y="431160"/>
                  <a:pt x="0" y="277758"/>
                </a:cubicBezTo>
                <a:cubicBezTo>
                  <a:pt x="0" y="124357"/>
                  <a:pt x="124356" y="0"/>
                  <a:pt x="277758" y="0"/>
                </a:cubicBezTo>
                <a:cubicBezTo>
                  <a:pt x="431159" y="0"/>
                  <a:pt x="555516" y="124357"/>
                  <a:pt x="555516" y="277758"/>
                </a:cubicBezTo>
                <a:close/>
              </a:path>
            </a:pathLst>
          </a:custGeom>
          <a:solidFill>
            <a:schemeClr val="bg1">
              <a:lumMod val="95000"/>
            </a:schemeClr>
          </a:solidFill>
          <a:ln w="47189" cap="flat">
            <a:solidFill>
              <a:schemeClr val="tx1"/>
            </a:solidFill>
            <a:prstDash val="solid"/>
            <a:miter/>
          </a:ln>
        </p:spPr>
        <p:txBody>
          <a:bodyPr rtlCol="0" anchor="ctr"/>
          <a:lstStyle/>
          <a:p>
            <a:pPr algn="ctr"/>
            <a:r>
              <a:rPr lang="en-IN" sz="1500" b="1" dirty="0">
                <a:solidFill>
                  <a:schemeClr val="tx1">
                    <a:lumMod val="85000"/>
                    <a:lumOff val="15000"/>
                  </a:schemeClr>
                </a:solidFill>
                <a:latin typeface="Times New Roman" panose="02020603050405020304" charset="0"/>
                <a:cs typeface="Times New Roman" panose="02020603050405020304" charset="0"/>
              </a:rPr>
              <a:t>0</a:t>
            </a:r>
            <a:r>
              <a:rPr lang="en-US" altLang="en-IN" sz="1500" b="1" dirty="0">
                <a:solidFill>
                  <a:schemeClr val="tx1">
                    <a:lumMod val="85000"/>
                    <a:lumOff val="15000"/>
                  </a:schemeClr>
                </a:solidFill>
                <a:latin typeface="Times New Roman" panose="02020603050405020304" charset="0"/>
                <a:cs typeface="Times New Roman" panose="02020603050405020304" charset="0"/>
              </a:rPr>
              <a:t>2</a:t>
            </a:r>
            <a:endParaRPr lang="en-US" altLang="en-IN" sz="1500" b="1" dirty="0">
              <a:solidFill>
                <a:schemeClr val="tx1">
                  <a:lumMod val="85000"/>
                  <a:lumOff val="15000"/>
                </a:schemeClr>
              </a:solidFill>
              <a:latin typeface="Times New Roman" panose="02020603050405020304" charset="0"/>
              <a:cs typeface="Times New Roman" panose="02020603050405020304" charset="0"/>
            </a:endParaRPr>
          </a:p>
        </p:txBody>
      </p:sp>
      <p:sp>
        <p:nvSpPr>
          <p:cNvPr id="50" name="Freeform: Shape 25"/>
          <p:cNvSpPr/>
          <p:nvPr>
            <p:custDataLst>
              <p:tags r:id="rId20"/>
            </p:custDataLst>
          </p:nvPr>
        </p:nvSpPr>
        <p:spPr>
          <a:xfrm>
            <a:off x="5036198" y="5262880"/>
            <a:ext cx="555516" cy="555516"/>
          </a:xfrm>
          <a:custGeom>
            <a:avLst/>
            <a:gdLst>
              <a:gd name="connsiteX0" fmla="*/ 555516 w 555516"/>
              <a:gd name="connsiteY0" fmla="*/ 277758 h 555516"/>
              <a:gd name="connsiteX1" fmla="*/ 277758 w 555516"/>
              <a:gd name="connsiteY1" fmla="*/ 555516 h 555516"/>
              <a:gd name="connsiteX2" fmla="*/ 0 w 555516"/>
              <a:gd name="connsiteY2" fmla="*/ 277758 h 555516"/>
              <a:gd name="connsiteX3" fmla="*/ 277758 w 555516"/>
              <a:gd name="connsiteY3" fmla="*/ 0 h 555516"/>
              <a:gd name="connsiteX4" fmla="*/ 555516 w 555516"/>
              <a:gd name="connsiteY4" fmla="*/ 277758 h 55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16" h="555516">
                <a:moveTo>
                  <a:pt x="555516" y="277758"/>
                </a:moveTo>
                <a:cubicBezTo>
                  <a:pt x="555516" y="431160"/>
                  <a:pt x="431160" y="555516"/>
                  <a:pt x="277758" y="555516"/>
                </a:cubicBezTo>
                <a:cubicBezTo>
                  <a:pt x="124357" y="555516"/>
                  <a:pt x="0" y="431160"/>
                  <a:pt x="0" y="277758"/>
                </a:cubicBezTo>
                <a:cubicBezTo>
                  <a:pt x="0" y="124357"/>
                  <a:pt x="124356" y="0"/>
                  <a:pt x="277758" y="0"/>
                </a:cubicBezTo>
                <a:cubicBezTo>
                  <a:pt x="431160" y="0"/>
                  <a:pt x="555516" y="124356"/>
                  <a:pt x="555516" y="277758"/>
                </a:cubicBezTo>
                <a:close/>
              </a:path>
            </a:pathLst>
          </a:custGeom>
          <a:solidFill>
            <a:schemeClr val="bg1">
              <a:lumMod val="95000"/>
            </a:schemeClr>
          </a:solidFill>
          <a:ln w="47189" cap="flat">
            <a:solidFill>
              <a:schemeClr val="tx1"/>
            </a:solidFill>
            <a:prstDash val="solid"/>
            <a:miter/>
          </a:ln>
        </p:spPr>
        <p:txBody>
          <a:bodyPr rtlCol="0" anchor="ctr"/>
          <a:lstStyle/>
          <a:p>
            <a:pPr algn="ctr"/>
            <a:r>
              <a:rPr lang="en-IN" sz="1500" b="1" dirty="0">
                <a:solidFill>
                  <a:schemeClr val="tx1">
                    <a:lumMod val="85000"/>
                    <a:lumOff val="15000"/>
                  </a:schemeClr>
                </a:solidFill>
                <a:latin typeface="Times New Roman" panose="02020603050405020304" charset="0"/>
                <a:cs typeface="Times New Roman" panose="02020603050405020304" charset="0"/>
              </a:rPr>
              <a:t>0</a:t>
            </a:r>
            <a:r>
              <a:rPr lang="en-US" altLang="en-IN" sz="1500" b="1" dirty="0">
                <a:solidFill>
                  <a:schemeClr val="tx1">
                    <a:lumMod val="85000"/>
                    <a:lumOff val="15000"/>
                  </a:schemeClr>
                </a:solidFill>
                <a:latin typeface="Times New Roman" panose="02020603050405020304" charset="0"/>
                <a:cs typeface="Times New Roman" panose="02020603050405020304" charset="0"/>
              </a:rPr>
              <a:t>6</a:t>
            </a:r>
            <a:endParaRPr lang="en-US" altLang="en-IN" sz="1500" b="1" dirty="0">
              <a:solidFill>
                <a:schemeClr val="tx1">
                  <a:lumMod val="85000"/>
                  <a:lumOff val="15000"/>
                </a:schemeClr>
              </a:solidFill>
              <a:latin typeface="Times New Roman" panose="02020603050405020304" charset="0"/>
              <a:cs typeface="Times New Roman" panose="02020603050405020304" charset="0"/>
            </a:endParaRPr>
          </a:p>
        </p:txBody>
      </p:sp>
      <p:sp>
        <p:nvSpPr>
          <p:cNvPr id="51" name="Freeform: Shape 26"/>
          <p:cNvSpPr/>
          <p:nvPr>
            <p:custDataLst>
              <p:tags r:id="rId21"/>
            </p:custDataLst>
          </p:nvPr>
        </p:nvSpPr>
        <p:spPr>
          <a:xfrm>
            <a:off x="6505620" y="5279499"/>
            <a:ext cx="555516" cy="555516"/>
          </a:xfrm>
          <a:custGeom>
            <a:avLst/>
            <a:gdLst>
              <a:gd name="connsiteX0" fmla="*/ 555516 w 555516"/>
              <a:gd name="connsiteY0" fmla="*/ 277758 h 555516"/>
              <a:gd name="connsiteX1" fmla="*/ 277758 w 555516"/>
              <a:gd name="connsiteY1" fmla="*/ 555516 h 555516"/>
              <a:gd name="connsiteX2" fmla="*/ 0 w 555516"/>
              <a:gd name="connsiteY2" fmla="*/ 277758 h 555516"/>
              <a:gd name="connsiteX3" fmla="*/ 277758 w 555516"/>
              <a:gd name="connsiteY3" fmla="*/ 0 h 555516"/>
              <a:gd name="connsiteX4" fmla="*/ 555516 w 555516"/>
              <a:gd name="connsiteY4" fmla="*/ 277758 h 55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16" h="555516">
                <a:moveTo>
                  <a:pt x="555516" y="277758"/>
                </a:moveTo>
                <a:cubicBezTo>
                  <a:pt x="555516" y="431160"/>
                  <a:pt x="431160" y="555516"/>
                  <a:pt x="277758" y="555516"/>
                </a:cubicBezTo>
                <a:cubicBezTo>
                  <a:pt x="124357" y="555516"/>
                  <a:pt x="0" y="431160"/>
                  <a:pt x="0" y="277758"/>
                </a:cubicBezTo>
                <a:cubicBezTo>
                  <a:pt x="0" y="124357"/>
                  <a:pt x="124356" y="0"/>
                  <a:pt x="277758" y="0"/>
                </a:cubicBezTo>
                <a:cubicBezTo>
                  <a:pt x="431159" y="0"/>
                  <a:pt x="555516" y="124356"/>
                  <a:pt x="555516" y="277758"/>
                </a:cubicBezTo>
                <a:close/>
              </a:path>
            </a:pathLst>
          </a:custGeom>
          <a:solidFill>
            <a:schemeClr val="bg1">
              <a:lumMod val="95000"/>
            </a:schemeClr>
          </a:solidFill>
          <a:ln w="47189" cap="flat">
            <a:solidFill>
              <a:schemeClr val="tx1"/>
            </a:solidFill>
            <a:prstDash val="solid"/>
            <a:miter/>
          </a:ln>
        </p:spPr>
        <p:txBody>
          <a:bodyPr rtlCol="0" anchor="ctr"/>
          <a:lstStyle/>
          <a:p>
            <a:pPr algn="ctr"/>
            <a:r>
              <a:rPr lang="en-IN" sz="1500" b="1" dirty="0">
                <a:solidFill>
                  <a:schemeClr val="tx1">
                    <a:lumMod val="85000"/>
                    <a:lumOff val="15000"/>
                  </a:schemeClr>
                </a:solidFill>
                <a:latin typeface="Times New Roman" panose="02020603050405020304" charset="0"/>
                <a:cs typeface="Times New Roman" panose="02020603050405020304" charset="0"/>
              </a:rPr>
              <a:t>0</a:t>
            </a:r>
            <a:r>
              <a:rPr lang="en-US" altLang="en-IN" sz="1500" b="1" dirty="0">
                <a:solidFill>
                  <a:schemeClr val="tx1">
                    <a:lumMod val="85000"/>
                    <a:lumOff val="15000"/>
                  </a:schemeClr>
                </a:solidFill>
                <a:latin typeface="Times New Roman" panose="02020603050405020304" charset="0"/>
                <a:cs typeface="Times New Roman" panose="02020603050405020304" charset="0"/>
              </a:rPr>
              <a:t>5</a:t>
            </a:r>
            <a:endParaRPr lang="en-US" altLang="en-IN" sz="1500" b="1" dirty="0">
              <a:solidFill>
                <a:schemeClr val="tx1">
                  <a:lumMod val="85000"/>
                  <a:lumOff val="15000"/>
                </a:schemeClr>
              </a:solidFill>
              <a:latin typeface="Times New Roman" panose="02020603050405020304" charset="0"/>
              <a:cs typeface="Times New Roman" panose="02020603050405020304" charset="0"/>
            </a:endParaRPr>
          </a:p>
        </p:txBody>
      </p:sp>
      <p:sp>
        <p:nvSpPr>
          <p:cNvPr id="52" name="Freeform: Shape 27"/>
          <p:cNvSpPr/>
          <p:nvPr>
            <p:custDataLst>
              <p:tags r:id="rId22"/>
            </p:custDataLst>
          </p:nvPr>
        </p:nvSpPr>
        <p:spPr>
          <a:xfrm>
            <a:off x="7578565" y="2703838"/>
            <a:ext cx="554400" cy="554400"/>
          </a:xfrm>
          <a:custGeom>
            <a:avLst/>
            <a:gdLst>
              <a:gd name="connsiteX0" fmla="*/ 555516 w 555516"/>
              <a:gd name="connsiteY0" fmla="*/ 277758 h 555516"/>
              <a:gd name="connsiteX1" fmla="*/ 277758 w 555516"/>
              <a:gd name="connsiteY1" fmla="*/ 555517 h 555516"/>
              <a:gd name="connsiteX2" fmla="*/ 0 w 555516"/>
              <a:gd name="connsiteY2" fmla="*/ 277758 h 555516"/>
              <a:gd name="connsiteX3" fmla="*/ 277758 w 555516"/>
              <a:gd name="connsiteY3" fmla="*/ 0 h 555516"/>
              <a:gd name="connsiteX4" fmla="*/ 555516 w 555516"/>
              <a:gd name="connsiteY4" fmla="*/ 277758 h 55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16" h="555516">
                <a:moveTo>
                  <a:pt x="555516" y="277758"/>
                </a:moveTo>
                <a:cubicBezTo>
                  <a:pt x="555516" y="431160"/>
                  <a:pt x="431160" y="555517"/>
                  <a:pt x="277758" y="555517"/>
                </a:cubicBezTo>
                <a:cubicBezTo>
                  <a:pt x="124357" y="555517"/>
                  <a:pt x="0" y="431160"/>
                  <a:pt x="0" y="277758"/>
                </a:cubicBezTo>
                <a:cubicBezTo>
                  <a:pt x="0" y="124357"/>
                  <a:pt x="124356" y="0"/>
                  <a:pt x="277758" y="0"/>
                </a:cubicBezTo>
                <a:cubicBezTo>
                  <a:pt x="431160" y="0"/>
                  <a:pt x="555516" y="124357"/>
                  <a:pt x="555516" y="277758"/>
                </a:cubicBezTo>
                <a:close/>
              </a:path>
            </a:pathLst>
          </a:custGeom>
          <a:solidFill>
            <a:schemeClr val="bg1">
              <a:lumMod val="95000"/>
            </a:schemeClr>
          </a:solidFill>
          <a:ln w="47189" cap="flat">
            <a:solidFill>
              <a:schemeClr val="tx1"/>
            </a:solidFill>
            <a:prstDash val="solid"/>
            <a:miter/>
          </a:ln>
        </p:spPr>
        <p:txBody>
          <a:bodyPr rtlCol="0" anchor="ctr"/>
          <a:lstStyle/>
          <a:p>
            <a:pPr algn="ctr"/>
            <a:r>
              <a:rPr lang="en-IN" sz="1500" b="1" dirty="0">
                <a:solidFill>
                  <a:schemeClr val="tx1">
                    <a:lumMod val="85000"/>
                    <a:lumOff val="15000"/>
                  </a:schemeClr>
                </a:solidFill>
                <a:latin typeface="Times New Roman" panose="02020603050405020304" charset="0"/>
                <a:cs typeface="Times New Roman" panose="02020603050405020304" charset="0"/>
              </a:rPr>
              <a:t>0</a:t>
            </a:r>
            <a:r>
              <a:rPr lang="en-US" altLang="en-IN" sz="1500" b="1" dirty="0">
                <a:solidFill>
                  <a:schemeClr val="tx1">
                    <a:lumMod val="85000"/>
                    <a:lumOff val="15000"/>
                  </a:schemeClr>
                </a:solidFill>
                <a:latin typeface="Times New Roman" panose="02020603050405020304" charset="0"/>
                <a:cs typeface="Times New Roman" panose="02020603050405020304" charset="0"/>
              </a:rPr>
              <a:t>3</a:t>
            </a:r>
            <a:endParaRPr lang="en-US" altLang="en-IN" sz="1500" b="1" dirty="0">
              <a:solidFill>
                <a:schemeClr val="tx1">
                  <a:lumMod val="85000"/>
                  <a:lumOff val="15000"/>
                </a:schemeClr>
              </a:solidFill>
              <a:latin typeface="Times New Roman" panose="02020603050405020304" charset="0"/>
              <a:cs typeface="Times New Roman" panose="02020603050405020304" charset="0"/>
            </a:endParaRPr>
          </a:p>
        </p:txBody>
      </p:sp>
      <p:sp>
        <p:nvSpPr>
          <p:cNvPr id="53" name="Freeform: Shape 28"/>
          <p:cNvSpPr/>
          <p:nvPr>
            <p:custDataLst>
              <p:tags r:id="rId23"/>
            </p:custDataLst>
          </p:nvPr>
        </p:nvSpPr>
        <p:spPr>
          <a:xfrm>
            <a:off x="3968121" y="2638202"/>
            <a:ext cx="555516" cy="555516"/>
          </a:xfrm>
          <a:custGeom>
            <a:avLst/>
            <a:gdLst>
              <a:gd name="connsiteX0" fmla="*/ 555516 w 555516"/>
              <a:gd name="connsiteY0" fmla="*/ 277758 h 555516"/>
              <a:gd name="connsiteX1" fmla="*/ 277758 w 555516"/>
              <a:gd name="connsiteY1" fmla="*/ 555517 h 555516"/>
              <a:gd name="connsiteX2" fmla="*/ 0 w 555516"/>
              <a:gd name="connsiteY2" fmla="*/ 277758 h 555516"/>
              <a:gd name="connsiteX3" fmla="*/ 277758 w 555516"/>
              <a:gd name="connsiteY3" fmla="*/ 0 h 555516"/>
              <a:gd name="connsiteX4" fmla="*/ 555516 w 555516"/>
              <a:gd name="connsiteY4" fmla="*/ 277758 h 55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16" h="555516">
                <a:moveTo>
                  <a:pt x="555516" y="277758"/>
                </a:moveTo>
                <a:cubicBezTo>
                  <a:pt x="555516" y="431160"/>
                  <a:pt x="431160" y="555517"/>
                  <a:pt x="277758" y="555517"/>
                </a:cubicBezTo>
                <a:cubicBezTo>
                  <a:pt x="124356" y="555517"/>
                  <a:pt x="0" y="431160"/>
                  <a:pt x="0" y="277758"/>
                </a:cubicBezTo>
                <a:cubicBezTo>
                  <a:pt x="0" y="124357"/>
                  <a:pt x="124356" y="0"/>
                  <a:pt x="277758" y="0"/>
                </a:cubicBezTo>
                <a:cubicBezTo>
                  <a:pt x="431159" y="0"/>
                  <a:pt x="555516" y="124357"/>
                  <a:pt x="555516" y="277758"/>
                </a:cubicBezTo>
                <a:close/>
              </a:path>
            </a:pathLst>
          </a:custGeom>
          <a:solidFill>
            <a:schemeClr val="bg1">
              <a:lumMod val="95000"/>
            </a:schemeClr>
          </a:solidFill>
          <a:ln w="47189" cap="flat">
            <a:solidFill>
              <a:schemeClr val="tx1"/>
            </a:solidFill>
            <a:prstDash val="solid"/>
            <a:miter/>
          </a:ln>
        </p:spPr>
        <p:txBody>
          <a:bodyPr rtlCol="0" anchor="ctr"/>
          <a:lstStyle/>
          <a:p>
            <a:pPr algn="ctr"/>
            <a:r>
              <a:rPr lang="en-IN" sz="1500" b="1" dirty="0">
                <a:solidFill>
                  <a:schemeClr val="tx1">
                    <a:lumMod val="85000"/>
                    <a:lumOff val="15000"/>
                  </a:schemeClr>
                </a:solidFill>
                <a:latin typeface="Times New Roman" panose="02020603050405020304" charset="0"/>
                <a:cs typeface="Times New Roman" panose="02020603050405020304" charset="0"/>
              </a:rPr>
              <a:t>0</a:t>
            </a:r>
            <a:r>
              <a:rPr lang="en-US" altLang="en-IN" sz="1500" b="1" dirty="0">
                <a:solidFill>
                  <a:schemeClr val="tx1">
                    <a:lumMod val="85000"/>
                    <a:lumOff val="15000"/>
                  </a:schemeClr>
                </a:solidFill>
                <a:latin typeface="Times New Roman" panose="02020603050405020304" charset="0"/>
                <a:cs typeface="Times New Roman" panose="02020603050405020304" charset="0"/>
              </a:rPr>
              <a:t>8</a:t>
            </a:r>
            <a:endParaRPr lang="en-US" altLang="en-IN" sz="1500" b="1" dirty="0">
              <a:solidFill>
                <a:schemeClr val="tx1">
                  <a:lumMod val="85000"/>
                  <a:lumOff val="15000"/>
                </a:schemeClr>
              </a:solidFill>
              <a:latin typeface="Times New Roman" panose="02020603050405020304" charset="0"/>
              <a:cs typeface="Times New Roman" panose="02020603050405020304" charset="0"/>
            </a:endParaRPr>
          </a:p>
        </p:txBody>
      </p:sp>
      <p:sp>
        <p:nvSpPr>
          <p:cNvPr id="54" name="Freeform: Shape 29"/>
          <p:cNvSpPr/>
          <p:nvPr>
            <p:custDataLst>
              <p:tags r:id="rId24"/>
            </p:custDataLst>
          </p:nvPr>
        </p:nvSpPr>
        <p:spPr>
          <a:xfrm>
            <a:off x="7578565" y="4108414"/>
            <a:ext cx="555516" cy="555516"/>
          </a:xfrm>
          <a:custGeom>
            <a:avLst/>
            <a:gdLst>
              <a:gd name="connsiteX0" fmla="*/ 555516 w 555516"/>
              <a:gd name="connsiteY0" fmla="*/ 277758 h 555516"/>
              <a:gd name="connsiteX1" fmla="*/ 277758 w 555516"/>
              <a:gd name="connsiteY1" fmla="*/ 555517 h 555516"/>
              <a:gd name="connsiteX2" fmla="*/ 0 w 555516"/>
              <a:gd name="connsiteY2" fmla="*/ 277758 h 555516"/>
              <a:gd name="connsiteX3" fmla="*/ 277758 w 555516"/>
              <a:gd name="connsiteY3" fmla="*/ 0 h 555516"/>
              <a:gd name="connsiteX4" fmla="*/ 555516 w 555516"/>
              <a:gd name="connsiteY4" fmla="*/ 277758 h 55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16" h="555516">
                <a:moveTo>
                  <a:pt x="555516" y="277758"/>
                </a:moveTo>
                <a:cubicBezTo>
                  <a:pt x="555516" y="431160"/>
                  <a:pt x="431160" y="555517"/>
                  <a:pt x="277758" y="555517"/>
                </a:cubicBezTo>
                <a:cubicBezTo>
                  <a:pt x="124357" y="555517"/>
                  <a:pt x="0" y="431160"/>
                  <a:pt x="0" y="277758"/>
                </a:cubicBezTo>
                <a:cubicBezTo>
                  <a:pt x="0" y="124357"/>
                  <a:pt x="124356" y="0"/>
                  <a:pt x="277758" y="0"/>
                </a:cubicBezTo>
                <a:cubicBezTo>
                  <a:pt x="431160" y="0"/>
                  <a:pt x="555516" y="124357"/>
                  <a:pt x="555516" y="277758"/>
                </a:cubicBezTo>
                <a:close/>
              </a:path>
            </a:pathLst>
          </a:custGeom>
          <a:solidFill>
            <a:schemeClr val="bg1">
              <a:lumMod val="95000"/>
            </a:schemeClr>
          </a:solidFill>
          <a:ln w="47189" cap="flat">
            <a:solidFill>
              <a:schemeClr val="tx1"/>
            </a:solidFill>
            <a:prstDash val="solid"/>
            <a:miter/>
          </a:ln>
        </p:spPr>
        <p:txBody>
          <a:bodyPr rtlCol="0" anchor="ctr"/>
          <a:lstStyle/>
          <a:p>
            <a:pPr algn="ctr"/>
            <a:r>
              <a:rPr lang="en-IN" sz="1500" b="1" dirty="0">
                <a:solidFill>
                  <a:schemeClr val="tx1">
                    <a:lumMod val="85000"/>
                    <a:lumOff val="15000"/>
                  </a:schemeClr>
                </a:solidFill>
                <a:latin typeface="Times New Roman" panose="02020603050405020304" charset="0"/>
                <a:cs typeface="Times New Roman" panose="02020603050405020304" charset="0"/>
              </a:rPr>
              <a:t>0</a:t>
            </a:r>
            <a:r>
              <a:rPr lang="en-US" altLang="en-IN" sz="1500" b="1" dirty="0">
                <a:solidFill>
                  <a:schemeClr val="tx1">
                    <a:lumMod val="85000"/>
                    <a:lumOff val="15000"/>
                  </a:schemeClr>
                </a:solidFill>
                <a:latin typeface="Times New Roman" panose="02020603050405020304" charset="0"/>
                <a:cs typeface="Times New Roman" panose="02020603050405020304" charset="0"/>
              </a:rPr>
              <a:t>4</a:t>
            </a:r>
            <a:endParaRPr lang="en-US" altLang="en-IN" sz="1500" b="1" dirty="0">
              <a:solidFill>
                <a:schemeClr val="tx1">
                  <a:lumMod val="85000"/>
                  <a:lumOff val="15000"/>
                </a:schemeClr>
              </a:solidFill>
              <a:latin typeface="Times New Roman" panose="02020603050405020304" charset="0"/>
              <a:cs typeface="Times New Roman" panose="02020603050405020304" charset="0"/>
            </a:endParaRPr>
          </a:p>
        </p:txBody>
      </p:sp>
      <p:sp>
        <p:nvSpPr>
          <p:cNvPr id="55" name="Freeform: Shape 30"/>
          <p:cNvSpPr/>
          <p:nvPr>
            <p:custDataLst>
              <p:tags r:id="rId25"/>
            </p:custDataLst>
          </p:nvPr>
        </p:nvSpPr>
        <p:spPr>
          <a:xfrm>
            <a:off x="3989625" y="4026563"/>
            <a:ext cx="555516" cy="555516"/>
          </a:xfrm>
          <a:custGeom>
            <a:avLst/>
            <a:gdLst>
              <a:gd name="connsiteX0" fmla="*/ 555516 w 555516"/>
              <a:gd name="connsiteY0" fmla="*/ 277758 h 555516"/>
              <a:gd name="connsiteX1" fmla="*/ 277758 w 555516"/>
              <a:gd name="connsiteY1" fmla="*/ 555517 h 555516"/>
              <a:gd name="connsiteX2" fmla="*/ 0 w 555516"/>
              <a:gd name="connsiteY2" fmla="*/ 277758 h 555516"/>
              <a:gd name="connsiteX3" fmla="*/ 277758 w 555516"/>
              <a:gd name="connsiteY3" fmla="*/ 0 h 555516"/>
              <a:gd name="connsiteX4" fmla="*/ 555516 w 555516"/>
              <a:gd name="connsiteY4" fmla="*/ 277758 h 555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16" h="555516">
                <a:moveTo>
                  <a:pt x="555516" y="277758"/>
                </a:moveTo>
                <a:cubicBezTo>
                  <a:pt x="555516" y="431160"/>
                  <a:pt x="431160" y="555517"/>
                  <a:pt x="277758" y="555517"/>
                </a:cubicBezTo>
                <a:cubicBezTo>
                  <a:pt x="124356" y="555517"/>
                  <a:pt x="0" y="431160"/>
                  <a:pt x="0" y="277758"/>
                </a:cubicBezTo>
                <a:cubicBezTo>
                  <a:pt x="0" y="124357"/>
                  <a:pt x="124356" y="0"/>
                  <a:pt x="277758" y="0"/>
                </a:cubicBezTo>
                <a:cubicBezTo>
                  <a:pt x="431159" y="0"/>
                  <a:pt x="555516" y="124357"/>
                  <a:pt x="555516" y="277758"/>
                </a:cubicBezTo>
                <a:close/>
              </a:path>
            </a:pathLst>
          </a:custGeom>
          <a:solidFill>
            <a:schemeClr val="bg1">
              <a:lumMod val="95000"/>
            </a:schemeClr>
          </a:solidFill>
          <a:ln w="47189" cap="flat">
            <a:solidFill>
              <a:schemeClr val="tx1"/>
            </a:solidFill>
            <a:prstDash val="solid"/>
            <a:miter/>
          </a:ln>
        </p:spPr>
        <p:txBody>
          <a:bodyPr rtlCol="0" anchor="ctr"/>
          <a:lstStyle/>
          <a:p>
            <a:pPr algn="ctr"/>
            <a:r>
              <a:rPr lang="en-IN" sz="1500" b="1" dirty="0">
                <a:solidFill>
                  <a:schemeClr val="tx1">
                    <a:lumMod val="85000"/>
                    <a:lumOff val="15000"/>
                  </a:schemeClr>
                </a:solidFill>
                <a:latin typeface="Times New Roman" panose="02020603050405020304" charset="0"/>
                <a:cs typeface="Times New Roman" panose="02020603050405020304" charset="0"/>
              </a:rPr>
              <a:t>0</a:t>
            </a:r>
            <a:r>
              <a:rPr lang="en-US" altLang="en-IN" sz="1500" b="1" dirty="0">
                <a:solidFill>
                  <a:schemeClr val="tx1">
                    <a:lumMod val="85000"/>
                    <a:lumOff val="15000"/>
                  </a:schemeClr>
                </a:solidFill>
                <a:latin typeface="Times New Roman" panose="02020603050405020304" charset="0"/>
                <a:cs typeface="Times New Roman" panose="02020603050405020304" charset="0"/>
              </a:rPr>
              <a:t>7</a:t>
            </a:r>
            <a:endParaRPr lang="en-US" altLang="en-IN" sz="1500" b="1" dirty="0">
              <a:solidFill>
                <a:schemeClr val="tx1">
                  <a:lumMod val="85000"/>
                  <a:lumOff val="15000"/>
                </a:schemeClr>
              </a:solidFill>
              <a:latin typeface="Times New Roman" panose="02020603050405020304" charset="0"/>
              <a:cs typeface="Times New Roman" panose="02020603050405020304" charset="0"/>
            </a:endParaRPr>
          </a:p>
        </p:txBody>
      </p:sp>
      <p:sp>
        <p:nvSpPr>
          <p:cNvPr id="56" name="Freeform: Shape 31"/>
          <p:cNvSpPr/>
          <p:nvPr>
            <p:custDataLst>
              <p:tags r:id="rId26"/>
            </p:custDataLst>
          </p:nvPr>
        </p:nvSpPr>
        <p:spPr>
          <a:xfrm>
            <a:off x="4687709" y="2325304"/>
            <a:ext cx="2689161" cy="2689162"/>
          </a:xfrm>
          <a:custGeom>
            <a:avLst/>
            <a:gdLst>
              <a:gd name="connsiteX0" fmla="*/ 2689162 w 2689161"/>
              <a:gd name="connsiteY0" fmla="*/ 1344581 h 2689162"/>
              <a:gd name="connsiteX1" fmla="*/ 1344581 w 2689161"/>
              <a:gd name="connsiteY1" fmla="*/ 2689162 h 2689162"/>
              <a:gd name="connsiteX2" fmla="*/ 0 w 2689161"/>
              <a:gd name="connsiteY2" fmla="*/ 1344581 h 2689162"/>
              <a:gd name="connsiteX3" fmla="*/ 1344581 w 2689161"/>
              <a:gd name="connsiteY3" fmla="*/ 0 h 2689162"/>
              <a:gd name="connsiteX4" fmla="*/ 2689162 w 2689161"/>
              <a:gd name="connsiteY4" fmla="*/ 1344581 h 2689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9161" h="2689162">
                <a:moveTo>
                  <a:pt x="2689162" y="1344581"/>
                </a:moveTo>
                <a:cubicBezTo>
                  <a:pt x="2689162" y="2087173"/>
                  <a:pt x="2087172" y="2689162"/>
                  <a:pt x="1344581" y="2689162"/>
                </a:cubicBezTo>
                <a:cubicBezTo>
                  <a:pt x="601989" y="2689162"/>
                  <a:pt x="0" y="2087173"/>
                  <a:pt x="0" y="1344581"/>
                </a:cubicBezTo>
                <a:cubicBezTo>
                  <a:pt x="0" y="601989"/>
                  <a:pt x="601989" y="0"/>
                  <a:pt x="1344581" y="0"/>
                </a:cubicBezTo>
                <a:cubicBezTo>
                  <a:pt x="2087172" y="0"/>
                  <a:pt x="2689162" y="601989"/>
                  <a:pt x="2689162" y="1344581"/>
                </a:cubicBezTo>
                <a:close/>
              </a:path>
            </a:pathLst>
          </a:custGeom>
          <a:solidFill>
            <a:schemeClr val="bg1">
              <a:lumMod val="95000"/>
            </a:schemeClr>
          </a:solidFill>
          <a:ln w="7139" cap="flat">
            <a:noFill/>
            <a:prstDash val="solid"/>
            <a:miter/>
          </a:ln>
        </p:spPr>
        <p:txBody>
          <a:bodyPr rtlCol="0" anchor="ctr"/>
          <a:lstStyle/>
          <a:p>
            <a:endParaRPr lang="en-IN" sz="1500" dirty="0">
              <a:latin typeface="Times New Roman" panose="02020603050405020304" charset="0"/>
              <a:cs typeface="Times New Roman" panose="02020603050405020304" charset="0"/>
            </a:endParaRPr>
          </a:p>
        </p:txBody>
      </p:sp>
      <p:sp>
        <p:nvSpPr>
          <p:cNvPr id="58" name="Text Box 1"/>
          <p:cNvSpPr txBox="1"/>
          <p:nvPr>
            <p:custDataLst>
              <p:tags r:id="rId27"/>
            </p:custDataLst>
          </p:nvPr>
        </p:nvSpPr>
        <p:spPr>
          <a:xfrm>
            <a:off x="8523814" y="3847216"/>
            <a:ext cx="3249930" cy="1106805"/>
          </a:xfrm>
          <a:prstGeom prst="rect">
            <a:avLst/>
          </a:prstGeom>
          <a:noFill/>
        </p:spPr>
        <p:txBody>
          <a:bodyPr wrap="square" rtlCol="0" anchor="t">
            <a:spAutoFit/>
          </a:bodyPr>
          <a:lstStyle/>
          <a:p>
            <a:pPr marL="0" indent="0">
              <a:buNone/>
            </a:pPr>
            <a:r>
              <a:rPr lang="en-US" altLang="en-US"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User-Friendly Interface</a:t>
            </a:r>
            <a:endParaRPr lang="en-US" altLang="en-US" b="1" dirty="0">
              <a:solidFill>
                <a:srgbClr val="2B2B2B"/>
              </a:solidFill>
              <a:latin typeface="Times New Roman" panose="02020603050405020304" charset="0"/>
              <a:ea typeface="Cambria" panose="02040503050406030204" pitchFamily="34" charset="-122"/>
              <a:cs typeface="Times New Roman" panose="02020603050405020304" charset="0"/>
              <a:sym typeface="+mn-ea"/>
            </a:endParaRPr>
          </a:p>
          <a:p>
            <a:pPr marL="0" indent="0">
              <a:buNone/>
            </a:pPr>
            <a:r>
              <a:rPr lang="en-US" altLang="en-US" sz="1600"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Provides simple navigation and an intuitive dashboard for a smooth user experience.</a:t>
            </a:r>
            <a:endParaRPr lang="en-US" altLang="en-US" sz="1600" b="1" dirty="0">
              <a:solidFill>
                <a:srgbClr val="2B2B2B"/>
              </a:solidFill>
              <a:latin typeface="Times New Roman" panose="02020603050405020304" charset="0"/>
              <a:ea typeface="Cambria" panose="02040503050406030204" pitchFamily="34" charset="-122"/>
              <a:cs typeface="Times New Roman" panose="02020603050405020304" charset="0"/>
              <a:sym typeface="+mn-ea"/>
            </a:endParaRPr>
          </a:p>
        </p:txBody>
      </p:sp>
      <p:sp>
        <p:nvSpPr>
          <p:cNvPr id="59" name="Text Box 58"/>
          <p:cNvSpPr txBox="1"/>
          <p:nvPr>
            <p:custDataLst>
              <p:tags r:id="rId28"/>
            </p:custDataLst>
          </p:nvPr>
        </p:nvSpPr>
        <p:spPr>
          <a:xfrm>
            <a:off x="7460648" y="1019479"/>
            <a:ext cx="3943985" cy="1106805"/>
          </a:xfrm>
          <a:prstGeom prst="rect">
            <a:avLst/>
          </a:prstGeom>
          <a:noFill/>
        </p:spPr>
        <p:txBody>
          <a:bodyPr wrap="square" rtlCol="0" anchor="t">
            <a:spAutoFit/>
          </a:bodyPr>
          <a:lstStyle/>
          <a:p>
            <a:r>
              <a:rPr lang="en-IN" altLang="en-US" b="1" dirty="0">
                <a:latin typeface="Times New Roman" panose="02020603050405020304" charset="0"/>
                <a:cs typeface="Times New Roman" panose="02020603050405020304" charset="0"/>
              </a:rPr>
              <a:t>C</a:t>
            </a:r>
            <a:r>
              <a:rPr lang="en-US" altLang="en-US" b="1" dirty="0" err="1">
                <a:latin typeface="Times New Roman" panose="02020603050405020304" charset="0"/>
                <a:cs typeface="Times New Roman" panose="02020603050405020304" charset="0"/>
              </a:rPr>
              <a:t>ustomizable</a:t>
            </a:r>
            <a:r>
              <a:rPr lang="en-US" altLang="en-US" b="1" dirty="0">
                <a:latin typeface="Times New Roman" panose="02020603050405020304" charset="0"/>
                <a:cs typeface="Times New Roman" panose="02020603050405020304" charset="0"/>
              </a:rPr>
              <a:t> Comparisons</a:t>
            </a:r>
            <a:endParaRPr lang="en-US" altLang="en-US" b="1"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Customizable Comparisons</a:t>
            </a:r>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Allows users to select products, parameters, and metrics based on their specific needs.</a:t>
            </a:r>
            <a:endParaRPr lang="en-US" sz="1600" dirty="0">
              <a:latin typeface="Times New Roman" panose="02020603050405020304" charset="0"/>
              <a:cs typeface="Times New Roman" panose="02020603050405020304" charset="0"/>
            </a:endParaRPr>
          </a:p>
        </p:txBody>
      </p:sp>
      <p:sp>
        <p:nvSpPr>
          <p:cNvPr id="60" name="Text Box 59"/>
          <p:cNvSpPr txBox="1"/>
          <p:nvPr>
            <p:custDataLst>
              <p:tags r:id="rId29"/>
            </p:custDataLst>
          </p:nvPr>
        </p:nvSpPr>
        <p:spPr>
          <a:xfrm>
            <a:off x="7413507" y="5206618"/>
            <a:ext cx="4112744" cy="1107996"/>
          </a:xfrm>
          <a:prstGeom prst="rect">
            <a:avLst/>
          </a:prstGeom>
          <a:noFill/>
        </p:spPr>
        <p:txBody>
          <a:bodyPr wrap="square" rtlCol="0">
            <a:spAutoFit/>
          </a:bodyPr>
          <a:lstStyle/>
          <a:p>
            <a:r>
              <a:rPr lang="en-US" altLang="en-US" b="1" dirty="0">
                <a:latin typeface="Times New Roman" panose="02020603050405020304" charset="0"/>
                <a:cs typeface="Times New Roman" panose="02020603050405020304" charset="0"/>
              </a:rPr>
              <a:t>Scalable &amp; Secure Platform</a:t>
            </a:r>
            <a:endParaRPr lang="en-US" altLang="en-US" b="1"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Scalable &amp; Secure Platform</a:t>
            </a:r>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Handles large datasets securely and can scale with changing business requirements.</a:t>
            </a:r>
            <a:endParaRPr lang="en-US" altLang="en-US" sz="1600" dirty="0">
              <a:latin typeface="Times New Roman" panose="02020603050405020304" charset="0"/>
              <a:cs typeface="Times New Roman" panose="02020603050405020304" charset="0"/>
            </a:endParaRPr>
          </a:p>
        </p:txBody>
      </p:sp>
      <p:sp>
        <p:nvSpPr>
          <p:cNvPr id="61" name="TextBox 4"/>
          <p:cNvSpPr txBox="1"/>
          <p:nvPr/>
        </p:nvSpPr>
        <p:spPr>
          <a:xfrm>
            <a:off x="212725" y="100311"/>
            <a:ext cx="6214188" cy="584775"/>
          </a:xfrm>
          <a:prstGeom prst="rect">
            <a:avLst/>
          </a:prstGeom>
          <a:noFill/>
        </p:spPr>
        <p:txBody>
          <a:bodyPr wrap="square">
            <a:spAutoFit/>
          </a:bodyPr>
          <a:lstStyle/>
          <a:p>
            <a:pPr marL="0" indent="0">
              <a:buNone/>
            </a:pPr>
            <a:r>
              <a:rPr lang="en-US" alt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Features And Benefits</a:t>
            </a:r>
            <a:endParaRPr lang="en-US" alt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endParaRPr>
          </a:p>
        </p:txBody>
      </p:sp>
      <p:pic>
        <p:nvPicPr>
          <p:cNvPr id="62" name="Picture 61"/>
          <p:cNvPicPr/>
          <p:nvPr/>
        </p:nvPicPr>
        <p:blipFill>
          <a:blip r:embed="rId30"/>
          <a:stretch>
            <a:fillRect/>
          </a:stretch>
        </p:blipFill>
        <p:spPr>
          <a:xfrm>
            <a:off x="4923790" y="2462530"/>
            <a:ext cx="2131060" cy="236347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
          <p:cNvPicPr>
            <a:picLocks noChangeAspect="1"/>
          </p:cNvPicPr>
          <p:nvPr/>
        </p:nvPicPr>
        <p:blipFill>
          <a:blip r:embed="rId1"/>
          <a:stretch>
            <a:fillRect/>
          </a:stretch>
        </p:blipFill>
        <p:spPr>
          <a:xfrm>
            <a:off x="212725" y="4018915"/>
            <a:ext cx="5944870" cy="2312670"/>
          </a:xfrm>
          <a:prstGeom prst="rect">
            <a:avLst/>
          </a:prstGeom>
        </p:spPr>
      </p:pic>
      <p:pic>
        <p:nvPicPr>
          <p:cNvPr id="7" name="Picture 6"/>
          <p:cNvPicPr>
            <a:picLocks noChangeAspect="1"/>
          </p:cNvPicPr>
          <p:nvPr/>
        </p:nvPicPr>
        <p:blipFill>
          <a:blip r:embed="rId2"/>
          <a:stretch>
            <a:fillRect/>
          </a:stretch>
        </p:blipFill>
        <p:spPr>
          <a:xfrm>
            <a:off x="7142480" y="3928110"/>
            <a:ext cx="4283075" cy="2403475"/>
          </a:xfrm>
          <a:prstGeom prst="rect">
            <a:avLst/>
          </a:prstGeom>
        </p:spPr>
      </p:pic>
      <p:pic>
        <p:nvPicPr>
          <p:cNvPr id="8" name="Picture 7"/>
          <p:cNvPicPr>
            <a:picLocks noChangeAspect="1"/>
          </p:cNvPicPr>
          <p:nvPr/>
        </p:nvPicPr>
        <p:blipFill>
          <a:blip r:embed="rId3"/>
          <a:stretch>
            <a:fillRect/>
          </a:stretch>
        </p:blipFill>
        <p:spPr>
          <a:xfrm>
            <a:off x="205740" y="897890"/>
            <a:ext cx="5951855" cy="2999105"/>
          </a:xfrm>
          <a:prstGeom prst="rect">
            <a:avLst/>
          </a:prstGeom>
        </p:spPr>
      </p:pic>
      <p:sp>
        <p:nvSpPr>
          <p:cNvPr id="1048577" name="Rectangles 4"/>
          <p:cNvSpPr/>
          <p:nvPr/>
        </p:nvSpPr>
        <p:spPr>
          <a:xfrm rot="5400000">
            <a:off x="5908488" y="562078"/>
            <a:ext cx="383915"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580" name="Text 13"/>
          <p:cNvSpPr/>
          <p:nvPr/>
        </p:nvSpPr>
        <p:spPr>
          <a:xfrm>
            <a:off x="212725" y="6727825"/>
            <a:ext cx="8976995" cy="274320"/>
          </a:xfrm>
          <a:prstGeom prst="rect">
            <a:avLst/>
          </a:prstGeom>
          <a:noFill/>
        </p:spPr>
        <p:txBody>
          <a:bodyPr wrap="square" rtlCol="0" anchor="ctr"/>
          <a:lstStyle/>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sym typeface="+mn-ea"/>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p:txBody>
      </p:sp>
      <p:sp>
        <p:nvSpPr>
          <p:cNvPr id="5" name="Rectangles 7"/>
          <p:cNvSpPr/>
          <p:nvPr/>
        </p:nvSpPr>
        <p:spPr>
          <a:xfrm rot="10800000">
            <a:off x="0" y="2540"/>
            <a:ext cx="12192000" cy="368300"/>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612" name="Text Box 1"/>
          <p:cNvSpPr txBox="1"/>
          <p:nvPr/>
        </p:nvSpPr>
        <p:spPr>
          <a:xfrm>
            <a:off x="139700" y="314325"/>
            <a:ext cx="3935095" cy="583565"/>
          </a:xfrm>
          <a:prstGeom prst="rect">
            <a:avLst/>
          </a:prstGeom>
          <a:noFill/>
        </p:spPr>
        <p:txBody>
          <a:bodyPr wrap="square" rtlCol="0" anchor="t">
            <a:spAutoFit/>
          </a:bodyPr>
          <a:lstStyle/>
          <a:p>
            <a:pPr marL="0" indent="0">
              <a:buNone/>
            </a:pPr>
            <a:r>
              <a:rPr lang="en-US" alt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Working Pictures</a:t>
            </a:r>
            <a:endParaRPr lang="en-US" altLang="en-US" sz="3200" b="1" dirty="0">
              <a:solidFill>
                <a:srgbClr val="2B2B2B"/>
              </a:solidFill>
              <a:latin typeface="Times New Roman" panose="02020603050405020304" charset="0"/>
              <a:ea typeface="Cambria" panose="02040503050406030204" pitchFamily="34" charset="-122"/>
              <a:cs typeface="Times New Roman" panose="02020603050405020304" charset="0"/>
              <a:sym typeface="+mn-ea"/>
            </a:endParaRPr>
          </a:p>
        </p:txBody>
      </p:sp>
      <p:pic>
        <p:nvPicPr>
          <p:cNvPr id="2097159" name="Image 0" descr="logo_full.png"/>
          <p:cNvPicPr>
            <a:picLocks noChangeAspect="1"/>
          </p:cNvPicPr>
          <p:nvPr/>
        </p:nvPicPr>
        <p:blipFill>
          <a:blip r:embed="rId4"/>
          <a:stretch>
            <a:fillRect/>
          </a:stretch>
        </p:blipFill>
        <p:spPr>
          <a:xfrm>
            <a:off x="10357815" y="102235"/>
            <a:ext cx="1554480" cy="229514"/>
          </a:xfrm>
          <a:prstGeom prst="rect">
            <a:avLst/>
          </a:prstGeom>
        </p:spPr>
      </p:pic>
      <p:pic>
        <p:nvPicPr>
          <p:cNvPr id="2" name="Picture 1"/>
          <p:cNvPicPr>
            <a:picLocks noChangeAspect="1"/>
          </p:cNvPicPr>
          <p:nvPr/>
        </p:nvPicPr>
        <p:blipFill>
          <a:blip r:embed="rId5"/>
          <a:stretch>
            <a:fillRect/>
          </a:stretch>
        </p:blipFill>
        <p:spPr>
          <a:xfrm>
            <a:off x="7142480" y="478790"/>
            <a:ext cx="4304665" cy="33274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alphaModFix amt="20000"/>
            <a:extLst>
              <a:ext uri="{28A0092B-C50C-407E-A947-70E740481C1C}">
                <a14:useLocalDpi xmlns:a14="http://schemas.microsoft.com/office/drawing/2010/main" val="0"/>
              </a:ext>
            </a:extLst>
          </a:blip>
          <a:stretch>
            <a:fillRect/>
          </a:stretch>
        </p:blipFill>
        <p:spPr>
          <a:xfrm>
            <a:off x="946150" y="0"/>
            <a:ext cx="10039985" cy="5706745"/>
          </a:xfrm>
          <a:prstGeom prst="rect">
            <a:avLst/>
          </a:prstGeom>
        </p:spPr>
      </p:pic>
      <p:sp>
        <p:nvSpPr>
          <p:cNvPr id="2" name="Rectangles 7"/>
          <p:cNvSpPr/>
          <p:nvPr/>
        </p:nvSpPr>
        <p:spPr>
          <a:xfrm rot="10800000">
            <a:off x="0" y="0"/>
            <a:ext cx="12192000" cy="1221105"/>
          </a:xfrm>
          <a:prstGeom prst="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48616" name="Text Box 1"/>
          <p:cNvSpPr txBox="1"/>
          <p:nvPr/>
        </p:nvSpPr>
        <p:spPr>
          <a:xfrm>
            <a:off x="3296920" y="3876040"/>
            <a:ext cx="6213475" cy="1198880"/>
          </a:xfrm>
          <a:prstGeom prst="rect">
            <a:avLst/>
          </a:prstGeom>
          <a:noFill/>
        </p:spPr>
        <p:txBody>
          <a:bodyPr wrap="square" rtlCol="0" anchor="t">
            <a:spAutoFit/>
          </a:bodyPr>
          <a:lstStyle/>
          <a:p>
            <a:pPr marL="0" indent="0">
              <a:buNone/>
            </a:pPr>
            <a:r>
              <a:rPr lang="en-US" altLang="en-US" sz="7200" b="1" dirty="0">
                <a:solidFill>
                  <a:srgbClr val="2B2B2B"/>
                </a:solidFill>
                <a:latin typeface="Times New Roman" panose="02020603050405020304" charset="0"/>
                <a:ea typeface="Cambria" panose="02040503050406030204" pitchFamily="34" charset="-122"/>
                <a:cs typeface="Times New Roman" panose="02020603050405020304" charset="0"/>
                <a:sym typeface="+mn-ea"/>
              </a:rPr>
              <a:t>Thank You !</a:t>
            </a:r>
            <a:endParaRPr lang="en-US" altLang="en-US" sz="7200" b="1" dirty="0">
              <a:solidFill>
                <a:srgbClr val="2B2B2B"/>
              </a:solidFill>
              <a:latin typeface="Times New Roman" panose="02020603050405020304" charset="0"/>
              <a:ea typeface="Cambria" panose="02040503050406030204" pitchFamily="34" charset="-122"/>
              <a:cs typeface="Times New Roman" panose="02020603050405020304" charset="0"/>
              <a:sym typeface="+mn-ea"/>
            </a:endParaRPr>
          </a:p>
        </p:txBody>
      </p:sp>
      <p:pic>
        <p:nvPicPr>
          <p:cNvPr id="2097161" name="Image 0" descr="logo_full.png"/>
          <p:cNvPicPr>
            <a:picLocks noChangeAspect="1"/>
          </p:cNvPicPr>
          <p:nvPr/>
        </p:nvPicPr>
        <p:blipFill>
          <a:blip r:embed="rId2"/>
          <a:stretch>
            <a:fillRect/>
          </a:stretch>
        </p:blipFill>
        <p:spPr>
          <a:xfrm>
            <a:off x="10357815" y="331470"/>
            <a:ext cx="1554480" cy="229514"/>
          </a:xfrm>
          <a:prstGeom prst="rect">
            <a:avLst/>
          </a:prstGeom>
        </p:spPr>
      </p:pic>
      <p:sp>
        <p:nvSpPr>
          <p:cNvPr id="1048617" name="Text 13"/>
          <p:cNvSpPr/>
          <p:nvPr/>
        </p:nvSpPr>
        <p:spPr>
          <a:xfrm>
            <a:off x="212725" y="6492240"/>
            <a:ext cx="7315200" cy="274320"/>
          </a:xfrm>
          <a:prstGeom prst="rect">
            <a:avLst/>
          </a:prstGeom>
          <a:noFill/>
        </p:spPr>
        <p:txBody>
          <a:bodyPr wrap="square" rtlCol="0" anchor="ctr"/>
          <a:lstStyle/>
          <a:p>
            <a:pPr marL="0" indent="0">
              <a:buNone/>
            </a:pPr>
            <a:r>
              <a:rPr lang="en-US" sz="1200" b="1" dirty="0">
                <a:solidFill>
                  <a:schemeClr val="bg1"/>
                </a:solidFill>
                <a:latin typeface="Times New Roman" panose="02020603050405020304" charset="0"/>
                <a:ea typeface="Calibri" panose="020F0502020204030204" pitchFamily="34" charset="-122"/>
                <a:cs typeface="Times New Roman" panose="02020603050405020304" charset="0"/>
              </a:rPr>
              <a:t>Product Comparison Analyzer  •  iLink Digital Hackathon 2026</a:t>
            </a:r>
            <a:endParaRPr lang="en-US" sz="1200" b="1" dirty="0">
              <a:solidFill>
                <a:schemeClr val="bg1"/>
              </a:solidFill>
              <a:latin typeface="Times New Roman" panose="02020603050405020304" charset="0"/>
              <a:ea typeface="Calibri" panose="020F0502020204030204" pitchFamily="34" charset="-122"/>
              <a:cs typeface="Times New Roman" panose="02020603050405020304" charset="0"/>
            </a:endParaRPr>
          </a:p>
        </p:txBody>
      </p:sp>
      <p:sp>
        <p:nvSpPr>
          <p:cNvPr id="3" name="Rectangles 4"/>
          <p:cNvSpPr/>
          <p:nvPr/>
        </p:nvSpPr>
        <p:spPr>
          <a:xfrm rot="5400000">
            <a:off x="5474335" y="140335"/>
            <a:ext cx="1234440" cy="12200255"/>
          </a:xfrm>
          <a:prstGeom prst="rect">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96520" y="6490970"/>
            <a:ext cx="11083290" cy="737235"/>
          </a:xfrm>
          <a:prstGeom prst="rect">
            <a:avLst/>
          </a:prstGeom>
          <a:noFill/>
        </p:spPr>
        <p:txBody>
          <a:bodyPr wrap="square" rtlCol="0" anchor="t">
            <a:spAutoFit/>
          </a:bodyPr>
          <a:p>
            <a:pPr marL="0" indent="0">
              <a:buNone/>
            </a:pPr>
            <a:r>
              <a:rPr lang="en-US" altLang="en-US" sz="1400" b="1" dirty="0">
                <a:latin typeface="Times New Roman" panose="02020603050405020304" charset="0"/>
                <a:ea typeface="Cambria" panose="02040503050406030204" pitchFamily="34" charset="-122"/>
                <a:cs typeface="Times New Roman" panose="02020603050405020304" charset="0"/>
                <a:sym typeface="+mn-ea"/>
              </a:rPr>
              <a:t>Al-Powered IT Procurement</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Competitive</a:t>
            </a:r>
            <a:r>
              <a:rPr lang="en-IN" altLang="en-US" sz="1400" b="1" dirty="0">
                <a:latin typeface="Times New Roman" panose="02020603050405020304" charset="0"/>
                <a:ea typeface="Cambria" panose="02040503050406030204" pitchFamily="34" charset="-122"/>
                <a:cs typeface="Times New Roman" panose="02020603050405020304" charset="0"/>
                <a:sym typeface="+mn-ea"/>
              </a:rPr>
              <a:t> </a:t>
            </a:r>
            <a:r>
              <a:rPr lang="en-US" altLang="en-US" sz="1400" b="1" dirty="0">
                <a:latin typeface="Times New Roman" panose="02020603050405020304" charset="0"/>
                <a:ea typeface="Cambria" panose="02040503050406030204" pitchFamily="34" charset="-122"/>
                <a:cs typeface="Times New Roman" panose="02020603050405020304" charset="0"/>
                <a:sym typeface="+mn-ea"/>
              </a:rPr>
              <a:t>Product Intelligence</a:t>
            </a:r>
            <a:r>
              <a:rPr lang="en-US" sz="1400" b="1" dirty="0">
                <a:latin typeface="Times New Roman" panose="02020603050405020304" charset="0"/>
                <a:ea typeface="Calibri" panose="020F0502020204030204" pitchFamily="34" charset="-122"/>
                <a:cs typeface="Times New Roman" panose="02020603050405020304" charset="0"/>
                <a:sym typeface="+mn-ea"/>
              </a:rPr>
              <a:t>  •  iLink Digital Hackathon 2026 </a:t>
            </a: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endParaRPr>
          </a:p>
          <a:p>
            <a:pPr marL="0" indent="0">
              <a:buNone/>
            </a:pPr>
            <a:endParaRPr lang="en-US" sz="1400" b="1" dirty="0">
              <a:latin typeface="Times New Roman" panose="02020603050405020304" charset="0"/>
              <a:ea typeface="Calibri" panose="020F0502020204030204" pitchFamily="34" charset="-122"/>
              <a:cs typeface="Times New Roman" panose="02020603050405020304" charset="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tags/tag1.xml><?xml version="1.0" encoding="utf-8"?>
<p:tagLst xmlns:p="http://schemas.openxmlformats.org/presentationml/2006/main">
  <p:tag name="KSO_WM_DIAGRAM_VIRTUALLY_FRAME" val="{&quot;height&quot;:437.15,&quot;left&quot;:9.75,&quot;top&quot;:70.4,&quot;width&quot;:929.75}"/>
</p:tagLst>
</file>

<file path=ppt/tags/tag2.xml><?xml version="1.0" encoding="utf-8"?>
<p:tagLst xmlns:p="http://schemas.openxmlformats.org/presentationml/2006/main">
  <p:tag name="KSO_WM_DIAGRAM_VIRTUALLY_FRAME" val="{&quot;height&quot;:437.15,&quot;left&quot;:9.75,&quot;top&quot;:70.4,&quot;width&quot;:929.75}"/>
</p:tagLst>
</file>

<file path=ppt/tags/tag3.xml><?xml version="1.0" encoding="utf-8"?>
<p:tagLst xmlns:p="http://schemas.openxmlformats.org/presentationml/2006/main">
  <p:tag name="KSO_WM_DIAGRAM_VIRTUALLY_FRAME" val="{&quot;height&quot;:437.15,&quot;left&quot;:9.75,&quot;top&quot;:70.4,&quot;width&quot;:929.75}"/>
</p:tagLst>
</file>

<file path=ppt/tags/tag4.xml><?xml version="1.0" encoding="utf-8"?>
<p:tagLst xmlns:p="http://schemas.openxmlformats.org/presentationml/2006/main">
  <p:tag name="KSO_WM_DIAGRAM_VIRTUALLY_FRAME" val="{&quot;height&quot;:437.15,&quot;left&quot;:9.75,&quot;top&quot;:70.4,&quot;width&quot;:929.75}"/>
</p:tagLst>
</file>

<file path=ppt/tags/tag5.xml><?xml version="1.0" encoding="utf-8"?>
<p:tagLst xmlns:p="http://schemas.openxmlformats.org/presentationml/2006/main">
  <p:tag name="KSO_WM_DIAGRAM_VIRTUALLY_FRAME" val="{&quot;height&quot;:437.15,&quot;left&quot;:9.75,&quot;top&quot;:70.4,&quot;width&quot;:929.75}"/>
</p:tagLst>
</file>

<file path=ppt/tags/tag6.xml><?xml version="1.0" encoding="utf-8"?>
<p:tagLst xmlns:p="http://schemas.openxmlformats.org/presentationml/2006/main">
  <p:tag name="KSO_WM_DIAGRAM_VIRTUALLY_FRAME" val="{&quot;height&quot;:437.15,&quot;left&quot;:9.75,&quot;top&quot;:70.4,&quot;width&quot;:929.75}"/>
</p:tagLst>
</file>

<file path=ppt/tags/tag7.xml><?xml version="1.0" encoding="utf-8"?>
<p:tagLst xmlns:p="http://schemas.openxmlformats.org/presentationml/2006/main">
  <p:tag name="KSO_WM_DIAGRAM_VIRTUALLY_FRAME" val="{&quot;height&quot;:437.15,&quot;left&quot;:9.75,&quot;top&quot;:70.4,&quot;width&quot;:929.75}"/>
</p:tagLst>
</file>

<file path=ppt/tags/tag8.xml><?xml version="1.0" encoding="utf-8"?>
<p:tagLst xmlns:p="http://schemas.openxmlformats.org/presentationml/2006/main">
  <p:tag name="KSO_WM_DIAGRAM_VIRTUALLY_FRAME" val="{&quot;height&quot;:437.15,&quot;left&quot;:9.75,&quot;top&quot;:70.4,&quot;width&quot;:929.75}"/>
</p:tagLst>
</file>

<file path=ppt/tags/tag9.xml><?xml version="1.0" encoding="utf-8"?>
<p:tagLst xmlns:p="http://schemas.openxmlformats.org/presentationml/2006/main">
  <p:tag name="KSO_WM_DIAGRAM_VIRTUALLY_FRAME" val="{&quot;height&quot;:437.15,&quot;left&quot;:9.75,&quot;top&quot;:70.4,&quot;width&quot;:929.75}"/>
</p:tagLst>
</file>

<file path=ppt/tags/tag10.xml><?xml version="1.0" encoding="utf-8"?>
<p:tagLst xmlns:p="http://schemas.openxmlformats.org/presentationml/2006/main">
  <p:tag name="KSO_WM_DIAGRAM_VIRTUALLY_FRAME" val="{&quot;height&quot;:437.15,&quot;left&quot;:9.75,&quot;top&quot;:70.4,&quot;width&quot;:929.75}"/>
</p:tagLst>
</file>

<file path=ppt/tags/tag11.xml><?xml version="1.0" encoding="utf-8"?>
<p:tagLst xmlns:p="http://schemas.openxmlformats.org/presentationml/2006/main">
  <p:tag name="KSO_WM_DIAGRAM_VIRTUALLY_FRAME" val="{&quot;height&quot;:437.15,&quot;left&quot;:9.75,&quot;top&quot;:70.4,&quot;width&quot;:929.75}"/>
</p:tagLst>
</file>

<file path=ppt/tags/tag12.xml><?xml version="1.0" encoding="utf-8"?>
<p:tagLst xmlns:p="http://schemas.openxmlformats.org/presentationml/2006/main">
  <p:tag name="KSO_WM_DIAGRAM_VIRTUALLY_FRAME" val="{&quot;height&quot;:437.15,&quot;left&quot;:9.75,&quot;top&quot;:70.4,&quot;width&quot;:929.75}"/>
</p:tagLst>
</file>

<file path=ppt/tags/tag13.xml><?xml version="1.0" encoding="utf-8"?>
<p:tagLst xmlns:p="http://schemas.openxmlformats.org/presentationml/2006/main">
  <p:tag name="KSO_WM_DIAGRAM_VIRTUALLY_FRAME" val="{&quot;height&quot;:437.15,&quot;left&quot;:9.75,&quot;top&quot;:70.4,&quot;width&quot;:929.75}"/>
</p:tagLst>
</file>

<file path=ppt/tags/tag14.xml><?xml version="1.0" encoding="utf-8"?>
<p:tagLst xmlns:p="http://schemas.openxmlformats.org/presentationml/2006/main">
  <p:tag name="KSO_WM_DIAGRAM_VIRTUALLY_FRAME" val="{&quot;height&quot;:437.15,&quot;left&quot;:9.75,&quot;top&quot;:70.4,&quot;width&quot;:929.75}"/>
</p:tagLst>
</file>

<file path=ppt/tags/tag15.xml><?xml version="1.0" encoding="utf-8"?>
<p:tagLst xmlns:p="http://schemas.openxmlformats.org/presentationml/2006/main">
  <p:tag name="KSO_WM_DIAGRAM_VIRTUALLY_FRAME" val="{&quot;height&quot;:437.15,&quot;left&quot;:9.75,&quot;top&quot;:70.4,&quot;width&quot;:929.75}"/>
</p:tagLst>
</file>

<file path=ppt/tags/tag16.xml><?xml version="1.0" encoding="utf-8"?>
<p:tagLst xmlns:p="http://schemas.openxmlformats.org/presentationml/2006/main">
  <p:tag name="KSO_WM_DIAGRAM_VIRTUALLY_FRAME" val="{&quot;height&quot;:437.15,&quot;left&quot;:9.75,&quot;top&quot;:70.4,&quot;width&quot;:929.75}"/>
</p:tagLst>
</file>

<file path=ppt/tags/tag17.xml><?xml version="1.0" encoding="utf-8"?>
<p:tagLst xmlns:p="http://schemas.openxmlformats.org/presentationml/2006/main">
  <p:tag name="KSO_WM_DIAGRAM_VIRTUALLY_FRAME" val="{&quot;height&quot;:437.15,&quot;left&quot;:9.75,&quot;top&quot;:70.4,&quot;width&quot;:929.75}"/>
</p:tagLst>
</file>

<file path=ppt/tags/tag18.xml><?xml version="1.0" encoding="utf-8"?>
<p:tagLst xmlns:p="http://schemas.openxmlformats.org/presentationml/2006/main">
  <p:tag name="KSO_WM_DIAGRAM_VIRTUALLY_FRAME" val="{&quot;height&quot;:437.15,&quot;left&quot;:9.75,&quot;top&quot;:70.4,&quot;width&quot;:929.75}"/>
</p:tagLst>
</file>

<file path=ppt/tags/tag19.xml><?xml version="1.0" encoding="utf-8"?>
<p:tagLst xmlns:p="http://schemas.openxmlformats.org/presentationml/2006/main">
  <p:tag name="KSO_WM_DIAGRAM_VIRTUALLY_FRAME" val="{&quot;height&quot;:437.15,&quot;left&quot;:9.75,&quot;top&quot;:70.4,&quot;width&quot;:929.75}"/>
</p:tagLst>
</file>

<file path=ppt/tags/tag20.xml><?xml version="1.0" encoding="utf-8"?>
<p:tagLst xmlns:p="http://schemas.openxmlformats.org/presentationml/2006/main">
  <p:tag name="KSO_WM_DIAGRAM_VIRTUALLY_FRAME" val="{&quot;height&quot;:437.15,&quot;left&quot;:9.75,&quot;top&quot;:70.4,&quot;width&quot;:929.75}"/>
</p:tagLst>
</file>

<file path=ppt/tags/tag21.xml><?xml version="1.0" encoding="utf-8"?>
<p:tagLst xmlns:p="http://schemas.openxmlformats.org/presentationml/2006/main">
  <p:tag name="KSO_WM_DIAGRAM_VIRTUALLY_FRAME" val="{&quot;height&quot;:437.15,&quot;left&quot;:9.75,&quot;top&quot;:70.4,&quot;width&quot;:929.75}"/>
</p:tagLst>
</file>

<file path=ppt/tags/tag22.xml><?xml version="1.0" encoding="utf-8"?>
<p:tagLst xmlns:p="http://schemas.openxmlformats.org/presentationml/2006/main">
  <p:tag name="KSO_WM_DIAGRAM_VIRTUALLY_FRAME" val="{&quot;height&quot;:437.15,&quot;left&quot;:9.75,&quot;top&quot;:70.4,&quot;width&quot;:929.75}"/>
</p:tagLst>
</file>

<file path=ppt/tags/tag23.xml><?xml version="1.0" encoding="utf-8"?>
<p:tagLst xmlns:p="http://schemas.openxmlformats.org/presentationml/2006/main">
  <p:tag name="KSO_WM_DIAGRAM_VIRTUALLY_FRAME" val="{&quot;height&quot;:437.15,&quot;left&quot;:9.75,&quot;top&quot;:70.4,&quot;width&quot;:929.75}"/>
</p:tagLst>
</file>

<file path=ppt/tags/tag24.xml><?xml version="1.0" encoding="utf-8"?>
<p:tagLst xmlns:p="http://schemas.openxmlformats.org/presentationml/2006/main">
  <p:tag name="KSO_WM_DIAGRAM_VIRTUALLY_FRAME" val="{&quot;height&quot;:437.15,&quot;left&quot;:9.75,&quot;top&quot;:70.4,&quot;width&quot;:929.75}"/>
</p:tagLst>
</file>

<file path=ppt/tags/tag25.xml><?xml version="1.0" encoding="utf-8"?>
<p:tagLst xmlns:p="http://schemas.openxmlformats.org/presentationml/2006/main">
  <p:tag name="KSO_WM_DIAGRAM_VIRTUALLY_FRAME" val="{&quot;height&quot;:437.15,&quot;left&quot;:9.75,&quot;top&quot;:70.4,&quot;width&quot;:929.75}"/>
</p:tagLst>
</file>

<file path=ppt/tags/tag26.xml><?xml version="1.0" encoding="utf-8"?>
<p:tagLst xmlns:p="http://schemas.openxmlformats.org/presentationml/2006/main">
  <p:tag name="KSO_WM_DIAGRAM_VIRTUALLY_FRAME" val="{&quot;height&quot;:437.15,&quot;left&quot;:9.75,&quot;top&quot;:70.4,&quot;width&quot;:929.75}"/>
</p:tagLst>
</file>

<file path=ppt/tags/tag27.xml><?xml version="1.0" encoding="utf-8"?>
<p:tagLst xmlns:p="http://schemas.openxmlformats.org/presentationml/2006/main">
  <p:tag name="KSO_WM_DIAGRAM_VIRTUALLY_FRAME" val="{&quot;height&quot;:437.15,&quot;left&quot;:9.75,&quot;top&quot;:70.4,&quot;width&quot;:929.75}"/>
</p:tagLst>
</file>

<file path=ppt/tags/tag28.xml><?xml version="1.0" encoding="utf-8"?>
<p:tagLst xmlns:p="http://schemas.openxmlformats.org/presentationml/2006/main">
  <p:tag name="KSO_WM_DIAGRAM_VIRTUALLY_FRAME" val="{&quot;height&quot;:437.15,&quot;left&quot;:9.75,&quot;top&quot;:70.4,&quot;width&quot;:929.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7768</Words>
  <Application>WPS Presentation</Application>
  <PresentationFormat>Widescreen</PresentationFormat>
  <Paragraphs>225</Paragraphs>
  <Slides>11</Slides>
  <Notes>1</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11</vt:i4>
      </vt:variant>
    </vt:vector>
  </HeadingPairs>
  <TitlesOfParts>
    <vt:vector size="26" baseType="lpstr">
      <vt:lpstr>Arial</vt:lpstr>
      <vt:lpstr>SimSun</vt:lpstr>
      <vt:lpstr>Wingdings</vt:lpstr>
      <vt:lpstr>Times New Roman</vt:lpstr>
      <vt:lpstr>Cambria</vt:lpstr>
      <vt:lpstr>Calibri</vt:lpstr>
      <vt:lpstr>Calibri</vt:lpstr>
      <vt:lpstr>Arial Rounded MT Bold</vt:lpstr>
      <vt:lpstr>Arial</vt:lpstr>
      <vt:lpstr>Algerian</vt:lpstr>
      <vt:lpstr>Microsoft YaHei</vt:lpstr>
      <vt:lpstr>Arial Unicode MS</vt:lpstr>
      <vt:lpstr>等线</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cp:lastModifiedBy>bravo 15</cp:lastModifiedBy>
  <cp:revision>31</cp:revision>
  <dcterms:created xsi:type="dcterms:W3CDTF">2026-07-16T03:45:00Z</dcterms:created>
  <dcterms:modified xsi:type="dcterms:W3CDTF">2026-09-02T07:03:41Z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5E2BACA465CF49D79FF5E33455A68C4A_13</vt:lpwstr>
  </property>
  <property fmtid="{D5CDD505-2E9C-101B-9397-08002B2CF9AE}" pid="3" name="KSOProductBuildVer">
    <vt:lpwstr>1033-12.2.0.23206</vt:lpwstr>
  </property>
</Properties>
</file>